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2"/>
  </p:sldMasterIdLst>
  <p:notesMasterIdLst>
    <p:notesMasterId r:id="rId13"/>
  </p:notesMasterIdLst>
  <p:sldIdLst>
    <p:sldId id="257" r:id="rId3"/>
    <p:sldId id="258" r:id="rId4"/>
    <p:sldId id="259" r:id="rId5"/>
    <p:sldId id="263" r:id="rId6"/>
    <p:sldId id="260" r:id="rId7"/>
    <p:sldId id="273" r:id="rId8"/>
    <p:sldId id="261" r:id="rId9"/>
    <p:sldId id="269" r:id="rId10"/>
    <p:sldId id="275" r:id="rId11"/>
    <p:sldId id="274" r:id="rId12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73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799" userDrawn="1">
          <p15:clr>
            <a:srgbClr val="A4A3A4"/>
          </p15:clr>
        </p15:guide>
        <p15:guide id="6" pos="7469" userDrawn="1">
          <p15:clr>
            <a:srgbClr val="A4A3A4"/>
          </p15:clr>
        </p15:guide>
        <p15:guide id="7" pos="2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3" autoAdjust="0"/>
    <p:restoredTop sz="94498" autoAdjust="0"/>
  </p:normalViewPr>
  <p:slideViewPr>
    <p:cSldViewPr snapToGrid="0" showGuides="1">
      <p:cViewPr varScale="1">
        <p:scale>
          <a:sx n="91" d="100"/>
          <a:sy n="91" d="100"/>
        </p:scale>
        <p:origin x="48" y="168"/>
      </p:cViewPr>
      <p:guideLst>
        <p:guide orient="horz" pos="2160"/>
        <p:guide pos="3873"/>
        <p:guide orient="horz" pos="3974"/>
        <p:guide orient="horz" pos="346"/>
        <p:guide orient="horz" pos="799"/>
        <p:guide pos="7469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90325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奖学金去掉，奖项都放</a:t>
            </a:r>
          </a:p>
        </p:txBody>
      </p:sp>
    </p:spTree>
    <p:extLst>
      <p:ext uri="{BB962C8B-B14F-4D97-AF65-F5344CB8AC3E}">
        <p14:creationId xmlns:p14="http://schemas.microsoft.com/office/powerpoint/2010/main" val="729600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美赛的也写上。放别人论文的图，已结题。把数据放上，比什么提升之类。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269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89510-1AF2-4FB4-E566-DEAE931E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C75E10B-A433-AD2D-0790-48603EDB7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A0D1CC0-A2BA-A28A-EB2A-57FAFC2270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美赛的也写上。放别人论文的图，已结题。把数据放上，比什么提升之类。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1661584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pattFill prst="ltUpDiag">
          <a:fgClr>
            <a:srgbClr val="FC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552450" y="527972"/>
            <a:ext cx="8916673" cy="3592997"/>
          </a:xfrm>
          <a:custGeom>
            <a:avLst/>
            <a:gdLst>
              <a:gd name="connsiteX0" fmla="*/ 3948112 w 3948112"/>
              <a:gd name="connsiteY0" fmla="*/ 0 h 882586"/>
              <a:gd name="connsiteX1" fmla="*/ 0 w 3948112"/>
              <a:gd name="connsiteY1" fmla="*/ 0 h 882586"/>
              <a:gd name="connsiteX2" fmla="*/ 0 w 3948112"/>
              <a:gd name="connsiteY2" fmla="*/ 882587 h 8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48112" h="882586">
                <a:moveTo>
                  <a:pt x="3948112" y="0"/>
                </a:moveTo>
                <a:lnTo>
                  <a:pt x="0" y="0"/>
                </a:lnTo>
                <a:lnTo>
                  <a:pt x="0" y="882587"/>
                </a:lnTo>
              </a:path>
            </a:pathLst>
          </a:custGeom>
          <a:noFill/>
          <a:ln w="38100" cap="flat">
            <a:solidFill>
              <a:srgbClr val="50638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2868345" y="2734084"/>
            <a:ext cx="8972437" cy="3592997"/>
          </a:xfrm>
          <a:custGeom>
            <a:avLst/>
            <a:gdLst>
              <a:gd name="connsiteX0" fmla="*/ 0 w 4031741"/>
              <a:gd name="connsiteY0" fmla="*/ 882586 h 882586"/>
              <a:gd name="connsiteX1" fmla="*/ 4031742 w 4031741"/>
              <a:gd name="connsiteY1" fmla="*/ 882586 h 882586"/>
              <a:gd name="connsiteX2" fmla="*/ 4031742 w 4031741"/>
              <a:gd name="connsiteY2" fmla="*/ 0 h 8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1741" h="882586">
                <a:moveTo>
                  <a:pt x="0" y="882586"/>
                </a:moveTo>
                <a:lnTo>
                  <a:pt x="4031742" y="882586"/>
                </a:lnTo>
                <a:lnTo>
                  <a:pt x="4031742" y="0"/>
                </a:lnTo>
              </a:path>
            </a:pathLst>
          </a:custGeom>
          <a:noFill/>
          <a:ln w="38100" cap="flat">
            <a:solidFill>
              <a:srgbClr val="50638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任意多边形: 形状 8"/>
          <p:cNvSpPr/>
          <p:nvPr userDrawn="1"/>
        </p:nvSpPr>
        <p:spPr>
          <a:xfrm>
            <a:off x="2412" y="3915333"/>
            <a:ext cx="2985058" cy="2939720"/>
          </a:xfrm>
          <a:custGeom>
            <a:avLst/>
            <a:gdLst>
              <a:gd name="connsiteX0" fmla="*/ 563150 w 2985058"/>
              <a:gd name="connsiteY0" fmla="*/ 0 h 2939720"/>
              <a:gd name="connsiteX1" fmla="*/ 1122192 w 2985058"/>
              <a:gd name="connsiteY1" fmla="*/ 559373 h 2939720"/>
              <a:gd name="connsiteX2" fmla="*/ 2985058 w 2985058"/>
              <a:gd name="connsiteY2" fmla="*/ 2422073 h 2939720"/>
              <a:gd name="connsiteX3" fmla="*/ 2467447 w 2985058"/>
              <a:gd name="connsiteY3" fmla="*/ 2939720 h 2939720"/>
              <a:gd name="connsiteX4" fmla="*/ 0 w 2985058"/>
              <a:gd name="connsiteY4" fmla="*/ 2939720 h 2939720"/>
              <a:gd name="connsiteX5" fmla="*/ 0 w 2985058"/>
              <a:gd name="connsiteY5" fmla="*/ 563151 h 2939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85058" h="2939720">
                <a:moveTo>
                  <a:pt x="563150" y="0"/>
                </a:moveTo>
                <a:lnTo>
                  <a:pt x="1122192" y="559373"/>
                </a:lnTo>
                <a:lnTo>
                  <a:pt x="2985058" y="2422073"/>
                </a:lnTo>
                <a:lnTo>
                  <a:pt x="2467447" y="2939720"/>
                </a:lnTo>
                <a:lnTo>
                  <a:pt x="0" y="2939720"/>
                </a:lnTo>
                <a:lnTo>
                  <a:pt x="0" y="563151"/>
                </a:lnTo>
                <a:close/>
              </a:path>
            </a:pathLst>
          </a:custGeom>
          <a:solidFill>
            <a:srgbClr val="50638A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0" name="任意多边形: 形状 9"/>
          <p:cNvSpPr/>
          <p:nvPr userDrawn="1"/>
        </p:nvSpPr>
        <p:spPr>
          <a:xfrm>
            <a:off x="2412" y="4763690"/>
            <a:ext cx="2136868" cy="2091363"/>
          </a:xfrm>
          <a:custGeom>
            <a:avLst/>
            <a:gdLst>
              <a:gd name="connsiteX0" fmla="*/ 562984 w 2136868"/>
              <a:gd name="connsiteY0" fmla="*/ 0 h 2091363"/>
              <a:gd name="connsiteX1" fmla="*/ 2136868 w 2136868"/>
              <a:gd name="connsiteY1" fmla="*/ 1573717 h 2091363"/>
              <a:gd name="connsiteX2" fmla="*/ 1619222 w 2136868"/>
              <a:gd name="connsiteY2" fmla="*/ 2091363 h 2091363"/>
              <a:gd name="connsiteX3" fmla="*/ 1508177 w 2136868"/>
              <a:gd name="connsiteY3" fmla="*/ 2091363 h 2091363"/>
              <a:gd name="connsiteX4" fmla="*/ 2025823 w 2136868"/>
              <a:gd name="connsiteY4" fmla="*/ 1573717 h 2091363"/>
              <a:gd name="connsiteX5" fmla="*/ 562984 w 2136868"/>
              <a:gd name="connsiteY5" fmla="*/ 110879 h 2091363"/>
              <a:gd name="connsiteX6" fmla="*/ 0 w 2136868"/>
              <a:gd name="connsiteY6" fmla="*/ 673927 h 2091363"/>
              <a:gd name="connsiteX7" fmla="*/ 0 w 2136868"/>
              <a:gd name="connsiteY7" fmla="*/ 562985 h 2091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6868" h="2091363">
                <a:moveTo>
                  <a:pt x="562984" y="0"/>
                </a:moveTo>
                <a:lnTo>
                  <a:pt x="2136868" y="1573717"/>
                </a:lnTo>
                <a:lnTo>
                  <a:pt x="1619222" y="2091363"/>
                </a:lnTo>
                <a:lnTo>
                  <a:pt x="1508177" y="2091363"/>
                </a:lnTo>
                <a:lnTo>
                  <a:pt x="2025823" y="1573717"/>
                </a:lnTo>
                <a:lnTo>
                  <a:pt x="562984" y="110879"/>
                </a:lnTo>
                <a:lnTo>
                  <a:pt x="0" y="673927"/>
                </a:lnTo>
                <a:lnTo>
                  <a:pt x="0" y="56298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1" name="任意多边形: 形状 10"/>
          <p:cNvSpPr/>
          <p:nvPr userDrawn="1"/>
        </p:nvSpPr>
        <p:spPr>
          <a:xfrm>
            <a:off x="2412" y="2652841"/>
            <a:ext cx="1715430" cy="3147435"/>
          </a:xfrm>
          <a:custGeom>
            <a:avLst/>
            <a:gdLst>
              <a:gd name="connsiteX0" fmla="*/ 141711 w 1715430"/>
              <a:gd name="connsiteY0" fmla="*/ 0 h 3147435"/>
              <a:gd name="connsiteX1" fmla="*/ 1715430 w 1715430"/>
              <a:gd name="connsiteY1" fmla="*/ 1573717 h 3147435"/>
              <a:gd name="connsiteX2" fmla="*/ 169431 w 1715430"/>
              <a:gd name="connsiteY2" fmla="*/ 3119715 h 3147435"/>
              <a:gd name="connsiteX3" fmla="*/ 141711 w 1715430"/>
              <a:gd name="connsiteY3" fmla="*/ 3147435 h 3147435"/>
              <a:gd name="connsiteX4" fmla="*/ 0 w 1715430"/>
              <a:gd name="connsiteY4" fmla="*/ 3005724 h 3147435"/>
              <a:gd name="connsiteX5" fmla="*/ 0 w 1715430"/>
              <a:gd name="connsiteY5" fmla="*/ 2894697 h 3147435"/>
              <a:gd name="connsiteX6" fmla="*/ 141712 w 1715430"/>
              <a:gd name="connsiteY6" fmla="*/ 3036393 h 3147435"/>
              <a:gd name="connsiteX7" fmla="*/ 113993 w 1715430"/>
              <a:gd name="connsiteY7" fmla="*/ 3064109 h 3147435"/>
              <a:gd name="connsiteX8" fmla="*/ 141711 w 1715430"/>
              <a:gd name="connsiteY8" fmla="*/ 3091829 h 3147435"/>
              <a:gd name="connsiteX9" fmla="*/ 169431 w 1715430"/>
              <a:gd name="connsiteY9" fmla="*/ 3064109 h 3147435"/>
              <a:gd name="connsiteX10" fmla="*/ 141712 w 1715430"/>
              <a:gd name="connsiteY10" fmla="*/ 3036393 h 3147435"/>
              <a:gd name="connsiteX11" fmla="*/ 1604551 w 1715430"/>
              <a:gd name="connsiteY11" fmla="*/ 1573717 h 3147435"/>
              <a:gd name="connsiteX12" fmla="*/ 141711 w 1715430"/>
              <a:gd name="connsiteY12" fmla="*/ 110879 h 3147435"/>
              <a:gd name="connsiteX13" fmla="*/ 0 w 1715430"/>
              <a:gd name="connsiteY13" fmla="*/ 252590 h 3147435"/>
              <a:gd name="connsiteX14" fmla="*/ 0 w 1715430"/>
              <a:gd name="connsiteY14" fmla="*/ 141711 h 3147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715430" h="3147435">
                <a:moveTo>
                  <a:pt x="141711" y="0"/>
                </a:moveTo>
                <a:lnTo>
                  <a:pt x="1715430" y="1573717"/>
                </a:lnTo>
                <a:lnTo>
                  <a:pt x="169431" y="3119715"/>
                </a:lnTo>
                <a:lnTo>
                  <a:pt x="141711" y="3147435"/>
                </a:lnTo>
                <a:lnTo>
                  <a:pt x="0" y="3005724"/>
                </a:lnTo>
                <a:lnTo>
                  <a:pt x="0" y="2894697"/>
                </a:lnTo>
                <a:lnTo>
                  <a:pt x="141712" y="3036393"/>
                </a:lnTo>
                <a:lnTo>
                  <a:pt x="113993" y="3064109"/>
                </a:lnTo>
                <a:lnTo>
                  <a:pt x="141711" y="3091829"/>
                </a:lnTo>
                <a:lnTo>
                  <a:pt x="169431" y="3064109"/>
                </a:lnTo>
                <a:lnTo>
                  <a:pt x="141712" y="3036393"/>
                </a:lnTo>
                <a:lnTo>
                  <a:pt x="1604551" y="1573717"/>
                </a:lnTo>
                <a:lnTo>
                  <a:pt x="141711" y="110879"/>
                </a:lnTo>
                <a:lnTo>
                  <a:pt x="0" y="252590"/>
                </a:lnTo>
                <a:lnTo>
                  <a:pt x="0" y="141711"/>
                </a:lnTo>
                <a:close/>
              </a:path>
            </a:pathLst>
          </a:custGeom>
          <a:solidFill>
            <a:srgbClr val="D9AFA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2" name="任意多边形: 形状 11"/>
          <p:cNvSpPr/>
          <p:nvPr userDrawn="1"/>
        </p:nvSpPr>
        <p:spPr>
          <a:xfrm>
            <a:off x="9277409" y="0"/>
            <a:ext cx="2914591" cy="3102798"/>
          </a:xfrm>
          <a:custGeom>
            <a:avLst/>
            <a:gdLst>
              <a:gd name="connsiteX0" fmla="*/ 542208 w 2914591"/>
              <a:gd name="connsiteY0" fmla="*/ 0 h 3102798"/>
              <a:gd name="connsiteX1" fmla="*/ 2914591 w 2914591"/>
              <a:gd name="connsiteY1" fmla="*/ 0 h 3102798"/>
              <a:gd name="connsiteX2" fmla="*/ 2914591 w 2914591"/>
              <a:gd name="connsiteY2" fmla="*/ 2748585 h 3102798"/>
              <a:gd name="connsiteX3" fmla="*/ 2560378 w 2914591"/>
              <a:gd name="connsiteY3" fmla="*/ 3102798 h 3102798"/>
              <a:gd name="connsiteX4" fmla="*/ 1969373 w 2914591"/>
              <a:gd name="connsiteY4" fmla="*/ 2511618 h 3102798"/>
              <a:gd name="connsiteX5" fmla="*/ 0 w 2914591"/>
              <a:gd name="connsiteY5" fmla="*/ 542245 h 3102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14591" h="3102798">
                <a:moveTo>
                  <a:pt x="542208" y="0"/>
                </a:moveTo>
                <a:lnTo>
                  <a:pt x="2914591" y="0"/>
                </a:lnTo>
                <a:lnTo>
                  <a:pt x="2914591" y="2748585"/>
                </a:lnTo>
                <a:lnTo>
                  <a:pt x="2560378" y="3102798"/>
                </a:lnTo>
                <a:lnTo>
                  <a:pt x="1969373" y="2511618"/>
                </a:lnTo>
                <a:lnTo>
                  <a:pt x="0" y="542245"/>
                </a:lnTo>
                <a:close/>
              </a:path>
            </a:pathLst>
          </a:custGeom>
          <a:solidFill>
            <a:srgbClr val="50638A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任意多边形: 形状 12"/>
          <p:cNvSpPr/>
          <p:nvPr userDrawn="1"/>
        </p:nvSpPr>
        <p:spPr>
          <a:xfrm>
            <a:off x="10174095" y="6747"/>
            <a:ext cx="2017905" cy="2206114"/>
          </a:xfrm>
          <a:custGeom>
            <a:avLst/>
            <a:gdLst>
              <a:gd name="connsiteX0" fmla="*/ 542246 w 2017905"/>
              <a:gd name="connsiteY0" fmla="*/ 0 h 2206114"/>
              <a:gd name="connsiteX1" fmla="*/ 659638 w 2017905"/>
              <a:gd name="connsiteY1" fmla="*/ 0 h 2206114"/>
              <a:gd name="connsiteX2" fmla="*/ 117393 w 2017905"/>
              <a:gd name="connsiteY2" fmla="*/ 542245 h 2206114"/>
              <a:gd name="connsiteX3" fmla="*/ 1663692 w 2017905"/>
              <a:gd name="connsiteY3" fmla="*/ 2088721 h 2206114"/>
              <a:gd name="connsiteX4" fmla="*/ 2017905 w 2017905"/>
              <a:gd name="connsiteY4" fmla="*/ 1734508 h 2206114"/>
              <a:gd name="connsiteX5" fmla="*/ 2017905 w 2017905"/>
              <a:gd name="connsiteY5" fmla="*/ 1851901 h 2206114"/>
              <a:gd name="connsiteX6" fmla="*/ 1663692 w 2017905"/>
              <a:gd name="connsiteY6" fmla="*/ 2206114 h 2206114"/>
              <a:gd name="connsiteX7" fmla="*/ 0 w 2017905"/>
              <a:gd name="connsiteY7" fmla="*/ 542245 h 2206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7905" h="2206114">
                <a:moveTo>
                  <a:pt x="542246" y="0"/>
                </a:moveTo>
                <a:lnTo>
                  <a:pt x="659638" y="0"/>
                </a:lnTo>
                <a:lnTo>
                  <a:pt x="117393" y="542245"/>
                </a:lnTo>
                <a:lnTo>
                  <a:pt x="1663692" y="2088721"/>
                </a:lnTo>
                <a:lnTo>
                  <a:pt x="2017905" y="1734508"/>
                </a:lnTo>
                <a:lnTo>
                  <a:pt x="2017905" y="1851901"/>
                </a:lnTo>
                <a:lnTo>
                  <a:pt x="1663692" y="2206114"/>
                </a:lnTo>
                <a:lnTo>
                  <a:pt x="0" y="542245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任意多边形: 形状 13"/>
          <p:cNvSpPr/>
          <p:nvPr userDrawn="1"/>
        </p:nvSpPr>
        <p:spPr>
          <a:xfrm>
            <a:off x="10619628" y="1208331"/>
            <a:ext cx="1572372" cy="3144744"/>
          </a:xfrm>
          <a:custGeom>
            <a:avLst/>
            <a:gdLst>
              <a:gd name="connsiteX0" fmla="*/ 1572372 w 1572372"/>
              <a:gd name="connsiteY0" fmla="*/ 0 h 3144744"/>
              <a:gd name="connsiteX1" fmla="*/ 1572372 w 1572372"/>
              <a:gd name="connsiteY1" fmla="*/ 117216 h 3144744"/>
              <a:gd name="connsiteX2" fmla="*/ 117218 w 1572372"/>
              <a:gd name="connsiteY2" fmla="*/ 1572370 h 3144744"/>
              <a:gd name="connsiteX3" fmla="*/ 1572372 w 1572372"/>
              <a:gd name="connsiteY3" fmla="*/ 3027360 h 3144744"/>
              <a:gd name="connsiteX4" fmla="*/ 1572372 w 1572372"/>
              <a:gd name="connsiteY4" fmla="*/ 3144744 h 3144744"/>
              <a:gd name="connsiteX5" fmla="*/ 0 w 1572372"/>
              <a:gd name="connsiteY5" fmla="*/ 1572370 h 3144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72372" h="3144744">
                <a:moveTo>
                  <a:pt x="1572372" y="0"/>
                </a:moveTo>
                <a:lnTo>
                  <a:pt x="1572372" y="117216"/>
                </a:lnTo>
                <a:lnTo>
                  <a:pt x="117218" y="1572370"/>
                </a:lnTo>
                <a:lnTo>
                  <a:pt x="1572372" y="3027360"/>
                </a:lnTo>
                <a:lnTo>
                  <a:pt x="1572372" y="3144744"/>
                </a:lnTo>
                <a:lnTo>
                  <a:pt x="0" y="1572370"/>
                </a:lnTo>
                <a:close/>
              </a:path>
            </a:pathLst>
          </a:custGeom>
          <a:solidFill>
            <a:srgbClr val="D9AFA6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pattFill prst="ltUpDiag">
          <a:fgClr>
            <a:srgbClr val="FC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: 形状 6"/>
          <p:cNvSpPr/>
          <p:nvPr userDrawn="1"/>
        </p:nvSpPr>
        <p:spPr>
          <a:xfrm>
            <a:off x="493485" y="455402"/>
            <a:ext cx="9855199" cy="3971457"/>
          </a:xfrm>
          <a:custGeom>
            <a:avLst/>
            <a:gdLst>
              <a:gd name="connsiteX0" fmla="*/ 3948112 w 3948112"/>
              <a:gd name="connsiteY0" fmla="*/ 0 h 882586"/>
              <a:gd name="connsiteX1" fmla="*/ 0 w 3948112"/>
              <a:gd name="connsiteY1" fmla="*/ 0 h 882586"/>
              <a:gd name="connsiteX2" fmla="*/ 0 w 3948112"/>
              <a:gd name="connsiteY2" fmla="*/ 882587 h 8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48112" h="882586">
                <a:moveTo>
                  <a:pt x="3948112" y="0"/>
                </a:moveTo>
                <a:lnTo>
                  <a:pt x="0" y="0"/>
                </a:lnTo>
                <a:lnTo>
                  <a:pt x="0" y="882587"/>
                </a:lnTo>
              </a:path>
            </a:pathLst>
          </a:custGeom>
          <a:noFill/>
          <a:ln w="38100" cap="flat">
            <a:solidFill>
              <a:srgbClr val="50638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>
            <a:off x="2554515" y="2569028"/>
            <a:ext cx="9300782" cy="3830624"/>
          </a:xfrm>
          <a:custGeom>
            <a:avLst/>
            <a:gdLst>
              <a:gd name="connsiteX0" fmla="*/ 0 w 4031741"/>
              <a:gd name="connsiteY0" fmla="*/ 882586 h 882586"/>
              <a:gd name="connsiteX1" fmla="*/ 4031742 w 4031741"/>
              <a:gd name="connsiteY1" fmla="*/ 882586 h 882586"/>
              <a:gd name="connsiteX2" fmla="*/ 4031742 w 4031741"/>
              <a:gd name="connsiteY2" fmla="*/ 0 h 882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31741" h="882586">
                <a:moveTo>
                  <a:pt x="0" y="882586"/>
                </a:moveTo>
                <a:lnTo>
                  <a:pt x="4031742" y="882586"/>
                </a:lnTo>
                <a:lnTo>
                  <a:pt x="4031742" y="0"/>
                </a:lnTo>
              </a:path>
            </a:pathLst>
          </a:custGeom>
          <a:noFill/>
          <a:ln w="38100" cap="flat">
            <a:solidFill>
              <a:srgbClr val="50638A"/>
            </a:solidFill>
            <a:prstDash val="solid"/>
            <a:miter/>
          </a:ln>
        </p:spPr>
        <p:txBody>
          <a:bodyPr rtlCol="0" anchor="ctr"/>
          <a:lstStyle/>
          <a:p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2412" y="3139739"/>
            <a:ext cx="2639188" cy="3715314"/>
            <a:chOff x="2412" y="2652841"/>
            <a:chExt cx="2985058" cy="4202212"/>
          </a:xfrm>
        </p:grpSpPr>
        <p:sp>
          <p:nvSpPr>
            <p:cNvPr id="9" name="任意多边形: 形状 8"/>
            <p:cNvSpPr/>
            <p:nvPr userDrawn="1"/>
          </p:nvSpPr>
          <p:spPr>
            <a:xfrm>
              <a:off x="2412" y="3915333"/>
              <a:ext cx="2985058" cy="2939720"/>
            </a:xfrm>
            <a:custGeom>
              <a:avLst/>
              <a:gdLst>
                <a:gd name="connsiteX0" fmla="*/ 563150 w 2985058"/>
                <a:gd name="connsiteY0" fmla="*/ 0 h 2939720"/>
                <a:gd name="connsiteX1" fmla="*/ 1122192 w 2985058"/>
                <a:gd name="connsiteY1" fmla="*/ 559373 h 2939720"/>
                <a:gd name="connsiteX2" fmla="*/ 2985058 w 2985058"/>
                <a:gd name="connsiteY2" fmla="*/ 2422073 h 2939720"/>
                <a:gd name="connsiteX3" fmla="*/ 2467447 w 2985058"/>
                <a:gd name="connsiteY3" fmla="*/ 2939720 h 2939720"/>
                <a:gd name="connsiteX4" fmla="*/ 0 w 2985058"/>
                <a:gd name="connsiteY4" fmla="*/ 2939720 h 2939720"/>
                <a:gd name="connsiteX5" fmla="*/ 0 w 2985058"/>
                <a:gd name="connsiteY5" fmla="*/ 563151 h 2939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85058" h="2939720">
                  <a:moveTo>
                    <a:pt x="563150" y="0"/>
                  </a:moveTo>
                  <a:lnTo>
                    <a:pt x="1122192" y="559373"/>
                  </a:lnTo>
                  <a:lnTo>
                    <a:pt x="2985058" y="2422073"/>
                  </a:lnTo>
                  <a:lnTo>
                    <a:pt x="2467447" y="2939720"/>
                  </a:lnTo>
                  <a:lnTo>
                    <a:pt x="0" y="2939720"/>
                  </a:lnTo>
                  <a:lnTo>
                    <a:pt x="0" y="563151"/>
                  </a:lnTo>
                  <a:close/>
                </a:path>
              </a:pathLst>
            </a:custGeom>
            <a:solidFill>
              <a:srgbClr val="50638A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" name="任意多边形: 形状 9"/>
            <p:cNvSpPr/>
            <p:nvPr userDrawn="1"/>
          </p:nvSpPr>
          <p:spPr>
            <a:xfrm>
              <a:off x="2412" y="4763690"/>
              <a:ext cx="2136868" cy="2091363"/>
            </a:xfrm>
            <a:custGeom>
              <a:avLst/>
              <a:gdLst>
                <a:gd name="connsiteX0" fmla="*/ 562984 w 2136868"/>
                <a:gd name="connsiteY0" fmla="*/ 0 h 2091363"/>
                <a:gd name="connsiteX1" fmla="*/ 2136868 w 2136868"/>
                <a:gd name="connsiteY1" fmla="*/ 1573717 h 2091363"/>
                <a:gd name="connsiteX2" fmla="*/ 1619222 w 2136868"/>
                <a:gd name="connsiteY2" fmla="*/ 2091363 h 2091363"/>
                <a:gd name="connsiteX3" fmla="*/ 1508177 w 2136868"/>
                <a:gd name="connsiteY3" fmla="*/ 2091363 h 2091363"/>
                <a:gd name="connsiteX4" fmla="*/ 2025823 w 2136868"/>
                <a:gd name="connsiteY4" fmla="*/ 1573717 h 2091363"/>
                <a:gd name="connsiteX5" fmla="*/ 562984 w 2136868"/>
                <a:gd name="connsiteY5" fmla="*/ 110879 h 2091363"/>
                <a:gd name="connsiteX6" fmla="*/ 0 w 2136868"/>
                <a:gd name="connsiteY6" fmla="*/ 673927 h 2091363"/>
                <a:gd name="connsiteX7" fmla="*/ 0 w 2136868"/>
                <a:gd name="connsiteY7" fmla="*/ 562985 h 209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36868" h="2091363">
                  <a:moveTo>
                    <a:pt x="562984" y="0"/>
                  </a:moveTo>
                  <a:lnTo>
                    <a:pt x="2136868" y="1573717"/>
                  </a:lnTo>
                  <a:lnTo>
                    <a:pt x="1619222" y="2091363"/>
                  </a:lnTo>
                  <a:lnTo>
                    <a:pt x="1508177" y="2091363"/>
                  </a:lnTo>
                  <a:lnTo>
                    <a:pt x="2025823" y="1573717"/>
                  </a:lnTo>
                  <a:lnTo>
                    <a:pt x="562984" y="110879"/>
                  </a:lnTo>
                  <a:lnTo>
                    <a:pt x="0" y="673927"/>
                  </a:lnTo>
                  <a:lnTo>
                    <a:pt x="0" y="56298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" name="任意多边形: 形状 10"/>
            <p:cNvSpPr/>
            <p:nvPr userDrawn="1"/>
          </p:nvSpPr>
          <p:spPr>
            <a:xfrm>
              <a:off x="2412" y="2652841"/>
              <a:ext cx="1715430" cy="3147435"/>
            </a:xfrm>
            <a:custGeom>
              <a:avLst/>
              <a:gdLst>
                <a:gd name="connsiteX0" fmla="*/ 141711 w 1715430"/>
                <a:gd name="connsiteY0" fmla="*/ 0 h 3147435"/>
                <a:gd name="connsiteX1" fmla="*/ 1715430 w 1715430"/>
                <a:gd name="connsiteY1" fmla="*/ 1573717 h 3147435"/>
                <a:gd name="connsiteX2" fmla="*/ 169431 w 1715430"/>
                <a:gd name="connsiteY2" fmla="*/ 3119715 h 3147435"/>
                <a:gd name="connsiteX3" fmla="*/ 141711 w 1715430"/>
                <a:gd name="connsiteY3" fmla="*/ 3147435 h 3147435"/>
                <a:gd name="connsiteX4" fmla="*/ 0 w 1715430"/>
                <a:gd name="connsiteY4" fmla="*/ 3005724 h 3147435"/>
                <a:gd name="connsiteX5" fmla="*/ 0 w 1715430"/>
                <a:gd name="connsiteY5" fmla="*/ 2894697 h 3147435"/>
                <a:gd name="connsiteX6" fmla="*/ 141712 w 1715430"/>
                <a:gd name="connsiteY6" fmla="*/ 3036393 h 3147435"/>
                <a:gd name="connsiteX7" fmla="*/ 113993 w 1715430"/>
                <a:gd name="connsiteY7" fmla="*/ 3064109 h 3147435"/>
                <a:gd name="connsiteX8" fmla="*/ 141711 w 1715430"/>
                <a:gd name="connsiteY8" fmla="*/ 3091829 h 3147435"/>
                <a:gd name="connsiteX9" fmla="*/ 169431 w 1715430"/>
                <a:gd name="connsiteY9" fmla="*/ 3064109 h 3147435"/>
                <a:gd name="connsiteX10" fmla="*/ 141712 w 1715430"/>
                <a:gd name="connsiteY10" fmla="*/ 3036393 h 3147435"/>
                <a:gd name="connsiteX11" fmla="*/ 1604551 w 1715430"/>
                <a:gd name="connsiteY11" fmla="*/ 1573717 h 3147435"/>
                <a:gd name="connsiteX12" fmla="*/ 141711 w 1715430"/>
                <a:gd name="connsiteY12" fmla="*/ 110879 h 3147435"/>
                <a:gd name="connsiteX13" fmla="*/ 0 w 1715430"/>
                <a:gd name="connsiteY13" fmla="*/ 252590 h 3147435"/>
                <a:gd name="connsiteX14" fmla="*/ 0 w 1715430"/>
                <a:gd name="connsiteY14" fmla="*/ 141711 h 3147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15430" h="3147435">
                  <a:moveTo>
                    <a:pt x="141711" y="0"/>
                  </a:moveTo>
                  <a:lnTo>
                    <a:pt x="1715430" y="1573717"/>
                  </a:lnTo>
                  <a:lnTo>
                    <a:pt x="169431" y="3119715"/>
                  </a:lnTo>
                  <a:lnTo>
                    <a:pt x="141711" y="3147435"/>
                  </a:lnTo>
                  <a:lnTo>
                    <a:pt x="0" y="3005724"/>
                  </a:lnTo>
                  <a:lnTo>
                    <a:pt x="0" y="2894697"/>
                  </a:lnTo>
                  <a:lnTo>
                    <a:pt x="141712" y="3036393"/>
                  </a:lnTo>
                  <a:lnTo>
                    <a:pt x="113993" y="3064109"/>
                  </a:lnTo>
                  <a:lnTo>
                    <a:pt x="141711" y="3091829"/>
                  </a:lnTo>
                  <a:lnTo>
                    <a:pt x="169431" y="3064109"/>
                  </a:lnTo>
                  <a:lnTo>
                    <a:pt x="141712" y="3036393"/>
                  </a:lnTo>
                  <a:lnTo>
                    <a:pt x="1604551" y="1573717"/>
                  </a:lnTo>
                  <a:lnTo>
                    <a:pt x="141711" y="110879"/>
                  </a:lnTo>
                  <a:lnTo>
                    <a:pt x="0" y="252590"/>
                  </a:lnTo>
                  <a:lnTo>
                    <a:pt x="0" y="141711"/>
                  </a:lnTo>
                  <a:close/>
                </a:path>
              </a:pathLst>
            </a:custGeom>
            <a:solidFill>
              <a:srgbClr val="D9AFA6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9710057" y="0"/>
            <a:ext cx="2481943" cy="3706895"/>
            <a:chOff x="9277409" y="0"/>
            <a:chExt cx="2914591" cy="4353075"/>
          </a:xfrm>
        </p:grpSpPr>
        <p:sp>
          <p:nvSpPr>
            <p:cNvPr id="12" name="任意多边形: 形状 11"/>
            <p:cNvSpPr/>
            <p:nvPr userDrawn="1"/>
          </p:nvSpPr>
          <p:spPr>
            <a:xfrm>
              <a:off x="9277409" y="0"/>
              <a:ext cx="2914591" cy="3102798"/>
            </a:xfrm>
            <a:custGeom>
              <a:avLst/>
              <a:gdLst>
                <a:gd name="connsiteX0" fmla="*/ 542208 w 2914591"/>
                <a:gd name="connsiteY0" fmla="*/ 0 h 3102798"/>
                <a:gd name="connsiteX1" fmla="*/ 2914591 w 2914591"/>
                <a:gd name="connsiteY1" fmla="*/ 0 h 3102798"/>
                <a:gd name="connsiteX2" fmla="*/ 2914591 w 2914591"/>
                <a:gd name="connsiteY2" fmla="*/ 2748585 h 3102798"/>
                <a:gd name="connsiteX3" fmla="*/ 2560378 w 2914591"/>
                <a:gd name="connsiteY3" fmla="*/ 3102798 h 3102798"/>
                <a:gd name="connsiteX4" fmla="*/ 1969373 w 2914591"/>
                <a:gd name="connsiteY4" fmla="*/ 2511618 h 3102798"/>
                <a:gd name="connsiteX5" fmla="*/ 0 w 2914591"/>
                <a:gd name="connsiteY5" fmla="*/ 542245 h 310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14591" h="3102798">
                  <a:moveTo>
                    <a:pt x="542208" y="0"/>
                  </a:moveTo>
                  <a:lnTo>
                    <a:pt x="2914591" y="0"/>
                  </a:lnTo>
                  <a:lnTo>
                    <a:pt x="2914591" y="2748585"/>
                  </a:lnTo>
                  <a:lnTo>
                    <a:pt x="2560378" y="3102798"/>
                  </a:lnTo>
                  <a:lnTo>
                    <a:pt x="1969373" y="2511618"/>
                  </a:lnTo>
                  <a:lnTo>
                    <a:pt x="0" y="542245"/>
                  </a:lnTo>
                  <a:close/>
                </a:path>
              </a:pathLst>
            </a:custGeom>
            <a:solidFill>
              <a:srgbClr val="50638A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任意多边形: 形状 12"/>
            <p:cNvSpPr/>
            <p:nvPr userDrawn="1"/>
          </p:nvSpPr>
          <p:spPr>
            <a:xfrm>
              <a:off x="10174095" y="6747"/>
              <a:ext cx="2017905" cy="2206114"/>
            </a:xfrm>
            <a:custGeom>
              <a:avLst/>
              <a:gdLst>
                <a:gd name="connsiteX0" fmla="*/ 542246 w 2017905"/>
                <a:gd name="connsiteY0" fmla="*/ 0 h 2206114"/>
                <a:gd name="connsiteX1" fmla="*/ 659638 w 2017905"/>
                <a:gd name="connsiteY1" fmla="*/ 0 h 2206114"/>
                <a:gd name="connsiteX2" fmla="*/ 117393 w 2017905"/>
                <a:gd name="connsiteY2" fmla="*/ 542245 h 2206114"/>
                <a:gd name="connsiteX3" fmla="*/ 1663692 w 2017905"/>
                <a:gd name="connsiteY3" fmla="*/ 2088721 h 2206114"/>
                <a:gd name="connsiteX4" fmla="*/ 2017905 w 2017905"/>
                <a:gd name="connsiteY4" fmla="*/ 1734508 h 2206114"/>
                <a:gd name="connsiteX5" fmla="*/ 2017905 w 2017905"/>
                <a:gd name="connsiteY5" fmla="*/ 1851901 h 2206114"/>
                <a:gd name="connsiteX6" fmla="*/ 1663692 w 2017905"/>
                <a:gd name="connsiteY6" fmla="*/ 2206114 h 2206114"/>
                <a:gd name="connsiteX7" fmla="*/ 0 w 2017905"/>
                <a:gd name="connsiteY7" fmla="*/ 542245 h 2206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017905" h="2206114">
                  <a:moveTo>
                    <a:pt x="542246" y="0"/>
                  </a:moveTo>
                  <a:lnTo>
                    <a:pt x="659638" y="0"/>
                  </a:lnTo>
                  <a:lnTo>
                    <a:pt x="117393" y="542245"/>
                  </a:lnTo>
                  <a:lnTo>
                    <a:pt x="1663692" y="2088721"/>
                  </a:lnTo>
                  <a:lnTo>
                    <a:pt x="2017905" y="1734508"/>
                  </a:lnTo>
                  <a:lnTo>
                    <a:pt x="2017905" y="1851901"/>
                  </a:lnTo>
                  <a:lnTo>
                    <a:pt x="1663692" y="2206114"/>
                  </a:lnTo>
                  <a:lnTo>
                    <a:pt x="0" y="54224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任意多边形: 形状 13"/>
            <p:cNvSpPr/>
            <p:nvPr userDrawn="1"/>
          </p:nvSpPr>
          <p:spPr>
            <a:xfrm>
              <a:off x="10619628" y="1208331"/>
              <a:ext cx="1572372" cy="3144744"/>
            </a:xfrm>
            <a:custGeom>
              <a:avLst/>
              <a:gdLst>
                <a:gd name="connsiteX0" fmla="*/ 1572372 w 1572372"/>
                <a:gd name="connsiteY0" fmla="*/ 0 h 3144744"/>
                <a:gd name="connsiteX1" fmla="*/ 1572372 w 1572372"/>
                <a:gd name="connsiteY1" fmla="*/ 117216 h 3144744"/>
                <a:gd name="connsiteX2" fmla="*/ 117218 w 1572372"/>
                <a:gd name="connsiteY2" fmla="*/ 1572370 h 3144744"/>
                <a:gd name="connsiteX3" fmla="*/ 1572372 w 1572372"/>
                <a:gd name="connsiteY3" fmla="*/ 3027360 h 3144744"/>
                <a:gd name="connsiteX4" fmla="*/ 1572372 w 1572372"/>
                <a:gd name="connsiteY4" fmla="*/ 3144744 h 3144744"/>
                <a:gd name="connsiteX5" fmla="*/ 0 w 1572372"/>
                <a:gd name="connsiteY5" fmla="*/ 1572370 h 3144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72372" h="3144744">
                  <a:moveTo>
                    <a:pt x="1572372" y="0"/>
                  </a:moveTo>
                  <a:lnTo>
                    <a:pt x="1572372" y="117216"/>
                  </a:lnTo>
                  <a:lnTo>
                    <a:pt x="117218" y="1572370"/>
                  </a:lnTo>
                  <a:lnTo>
                    <a:pt x="1572372" y="3027360"/>
                  </a:lnTo>
                  <a:lnTo>
                    <a:pt x="1572372" y="3144744"/>
                  </a:lnTo>
                  <a:lnTo>
                    <a:pt x="0" y="1572370"/>
                  </a:lnTo>
                  <a:close/>
                </a:path>
              </a:pathLst>
            </a:custGeom>
            <a:solidFill>
              <a:srgbClr val="D9AFA6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bg>
      <p:bgPr>
        <a:pattFill prst="ltUpDiag">
          <a:fgClr>
            <a:srgbClr val="FC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等腰三角形 14"/>
          <p:cNvSpPr/>
          <p:nvPr userDrawn="1"/>
        </p:nvSpPr>
        <p:spPr>
          <a:xfrm rot="5400000">
            <a:off x="-34132" y="455670"/>
            <a:ext cx="550864" cy="492125"/>
          </a:xfrm>
          <a:prstGeom prst="triangle">
            <a:avLst/>
          </a:prstGeom>
          <a:solidFill>
            <a:srgbClr val="D9A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9AFA6"/>
              </a:solidFill>
            </a:endParaRPr>
          </a:p>
        </p:txBody>
      </p:sp>
      <p:sp>
        <p:nvSpPr>
          <p:cNvPr id="16" name="椭圆 15"/>
          <p:cNvSpPr/>
          <p:nvPr userDrawn="1"/>
        </p:nvSpPr>
        <p:spPr>
          <a:xfrm>
            <a:off x="11264324" y="494546"/>
            <a:ext cx="357242" cy="357242"/>
          </a:xfrm>
          <a:prstGeom prst="ellipse">
            <a:avLst/>
          </a:prstGeom>
          <a:solidFill>
            <a:srgbClr val="D9AF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D9AFA6"/>
              </a:solidFill>
            </a:endParaRPr>
          </a:p>
        </p:txBody>
      </p:sp>
      <p:sp>
        <p:nvSpPr>
          <p:cNvPr id="17" name="Shape 13"/>
          <p:cNvSpPr txBox="1"/>
          <p:nvPr userDrawn="1"/>
        </p:nvSpPr>
        <p:spPr>
          <a:xfrm>
            <a:off x="11177835" y="533619"/>
            <a:ext cx="503762" cy="276981"/>
          </a:xfrm>
          <a:prstGeom prst="rect">
            <a:avLst/>
          </a:prstGeom>
          <a:noFill/>
          <a:ln>
            <a:noFill/>
          </a:ln>
        </p:spPr>
        <p:txBody>
          <a:bodyPr lIns="91413" tIns="45700" rIns="91413" bIns="45700" anchor="ctr" anchorCtr="0">
            <a:noAutofit/>
          </a:bodyPr>
          <a:lstStyle/>
          <a:p>
            <a:pPr marL="0" marR="0" lvl="0" indent="0" algn="ctr" rtl="0">
              <a:spcBef>
                <a:spcPct val="0"/>
              </a:spcBef>
              <a:buSzPct val="25000"/>
              <a:buNone/>
            </a:pPr>
            <a:fld id="{00000000-1234-1234-1234-123412341234}" type="slidenum">
              <a:rPr lang="en-US" sz="1400" b="0" i="0" u="none" strike="noStrike" cap="none" spc="0" baseline="0">
                <a:solidFill>
                  <a:schemeClr val="bg1"/>
                </a:solidFill>
                <a:latin typeface="+mj-lt"/>
                <a:ea typeface="Lato" panose="020F0502020204030203"/>
                <a:cs typeface="Lato" panose="020F0502020204030203"/>
                <a:sym typeface="Lato" panose="020F0502020204030203"/>
              </a:rPr>
              <a:t>‹#›</a:t>
            </a:fld>
            <a:endParaRPr lang="en-US" sz="1400" b="0" i="0" u="none" strike="noStrike" cap="none" spc="0" baseline="0">
              <a:solidFill>
                <a:schemeClr val="bg1"/>
              </a:solidFill>
              <a:latin typeface="+mj-lt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576353" y="995804"/>
            <a:ext cx="11045213" cy="0"/>
          </a:xfrm>
          <a:prstGeom prst="line">
            <a:avLst/>
          </a:prstGeom>
          <a:ln w="6350">
            <a:solidFill>
              <a:srgbClr val="50638A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/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rgbClr val="FC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983104" y="1819537"/>
            <a:ext cx="8225790" cy="3323725"/>
            <a:chOff x="1983104" y="2091680"/>
            <a:chExt cx="8225790" cy="3323725"/>
          </a:xfrm>
        </p:grpSpPr>
        <p:sp>
          <p:nvSpPr>
            <p:cNvPr id="18" name="矩形 17"/>
            <p:cNvSpPr/>
            <p:nvPr/>
          </p:nvSpPr>
          <p:spPr>
            <a:xfrm>
              <a:off x="3097390" y="3228769"/>
              <a:ext cx="5997219" cy="400110"/>
            </a:xfrm>
            <a:prstGeom prst="rect">
              <a:avLst/>
            </a:prstGeom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2000" spc="300" dirty="0">
                  <a:solidFill>
                    <a:srgbClr val="50638A"/>
                  </a:solidFill>
                  <a:cs typeface="+mn-ea"/>
                  <a:sym typeface="+mn-lt"/>
                </a:rPr>
                <a:t>Self-introduction During The Interview</a:t>
              </a:r>
              <a:endParaRPr lang="zh-CN" altLang="en-US" sz="2000" spc="300" dirty="0">
                <a:solidFill>
                  <a:srgbClr val="50638A"/>
                </a:solidFill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983104" y="2091680"/>
              <a:ext cx="8225790" cy="1015663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rgbClr val="50638A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面试自我介绍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2838162" y="3813934"/>
              <a:ext cx="6515676" cy="0"/>
            </a:xfrm>
            <a:prstGeom prst="line">
              <a:avLst/>
            </a:prstGeom>
            <a:ln w="12700">
              <a:solidFill>
                <a:srgbClr val="50638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" name="组合 20"/>
            <p:cNvGrpSpPr/>
            <p:nvPr/>
          </p:nvGrpSpPr>
          <p:grpSpPr>
            <a:xfrm>
              <a:off x="4135080" y="4998757"/>
              <a:ext cx="3921836" cy="416648"/>
              <a:chOff x="3989938" y="4891087"/>
              <a:chExt cx="3921836" cy="416648"/>
            </a:xfrm>
          </p:grpSpPr>
          <p:sp>
            <p:nvSpPr>
              <p:cNvPr id="23" name="矩形: 圆角 22"/>
              <p:cNvSpPr/>
              <p:nvPr/>
            </p:nvSpPr>
            <p:spPr>
              <a:xfrm>
                <a:off x="4277323" y="4891087"/>
                <a:ext cx="3347067" cy="416648"/>
              </a:xfrm>
              <a:prstGeom prst="roundRect">
                <a:avLst>
                  <a:gd name="adj" fmla="val 50000"/>
                </a:avLst>
              </a:prstGeom>
              <a:solidFill>
                <a:srgbClr val="D9AFA6"/>
              </a:solidFill>
              <a:ln w="158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>
                  <a:solidFill>
                    <a:srgbClr val="3B466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989938" y="4930134"/>
                <a:ext cx="3921836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汇报人 ：中国矿业大学</a:t>
                </a:r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雷显秋    </a:t>
                </a:r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  </a:t>
                </a: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166257" y="4056786"/>
              <a:ext cx="7859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Lorem ipsum dolor sit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amet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consectetuer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adipiscing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elit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Maecenas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porttitor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congue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massa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Fusce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posuere</a:t>
              </a:r>
              <a:endParaRPr lang="zh-CN" altLang="en-US" sz="1200" spc="3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组合 56"/>
          <p:cNvGrpSpPr/>
          <p:nvPr/>
        </p:nvGrpSpPr>
        <p:grpSpPr>
          <a:xfrm>
            <a:off x="3397879" y="2989508"/>
            <a:ext cx="7058365" cy="2413867"/>
            <a:chOff x="3368851" y="2873395"/>
            <a:chExt cx="7058365" cy="2413867"/>
          </a:xfrm>
        </p:grpSpPr>
        <p:grpSp>
          <p:nvGrpSpPr>
            <p:cNvPr id="53" name="组合 52"/>
            <p:cNvGrpSpPr/>
            <p:nvPr/>
          </p:nvGrpSpPr>
          <p:grpSpPr>
            <a:xfrm>
              <a:off x="3368851" y="2873395"/>
              <a:ext cx="2733107" cy="849953"/>
              <a:chOff x="3368851" y="2902423"/>
              <a:chExt cx="2733107" cy="849953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4275817" y="2902423"/>
                <a:ext cx="1826141" cy="849953"/>
                <a:chOff x="2739542" y="3241456"/>
                <a:chExt cx="1826141" cy="849953"/>
              </a:xfrm>
            </p:grpSpPr>
            <p:sp>
              <p:nvSpPr>
                <p:cNvPr id="10" name="文本框 38"/>
                <p:cNvSpPr txBox="1"/>
                <p:nvPr/>
              </p:nvSpPr>
              <p:spPr>
                <a:xfrm>
                  <a:off x="2739542" y="3241456"/>
                  <a:ext cx="182614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3200" b="1" dirty="0">
                      <a:solidFill>
                        <a:srgbClr val="50638A"/>
                      </a:solidFill>
                      <a:cs typeface="+mn-ea"/>
                      <a:sym typeface="+mn-lt"/>
                    </a:rPr>
                    <a:t>个人介绍</a:t>
                  </a:r>
                </a:p>
              </p:txBody>
            </p:sp>
            <p:sp>
              <p:nvSpPr>
                <p:cNvPr id="11" name="文本框 39"/>
                <p:cNvSpPr txBox="1"/>
                <p:nvPr/>
              </p:nvSpPr>
              <p:spPr>
                <a:xfrm>
                  <a:off x="2739542" y="3814410"/>
                  <a:ext cx="179856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200" spc="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Basic Information</a:t>
                  </a:r>
                </a:p>
              </p:txBody>
            </p:sp>
          </p:grpSp>
          <p:grpSp>
            <p:nvGrpSpPr>
              <p:cNvPr id="29" name="组合 28"/>
              <p:cNvGrpSpPr/>
              <p:nvPr/>
            </p:nvGrpSpPr>
            <p:grpSpPr>
              <a:xfrm>
                <a:off x="3368851" y="2967399"/>
                <a:ext cx="720000" cy="720000"/>
                <a:chOff x="1611325" y="3138396"/>
                <a:chExt cx="720000" cy="720000"/>
              </a:xfrm>
            </p:grpSpPr>
            <p:sp>
              <p:nvSpPr>
                <p:cNvPr id="9" name="图形 12"/>
                <p:cNvSpPr/>
                <p:nvPr/>
              </p:nvSpPr>
              <p:spPr>
                <a:xfrm rot="2769127">
                  <a:off x="1611325" y="3138396"/>
                  <a:ext cx="720000" cy="720000"/>
                </a:xfrm>
                <a:prstGeom prst="roundRect">
                  <a:avLst/>
                </a:prstGeom>
                <a:solidFill>
                  <a:srgbClr val="50638A"/>
                </a:solidFill>
                <a:ln w="232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文本框 27"/>
                <p:cNvSpPr txBox="1"/>
                <p:nvPr/>
              </p:nvSpPr>
              <p:spPr>
                <a:xfrm>
                  <a:off x="1672205" y="3236786"/>
                  <a:ext cx="5982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>
                      <a:solidFill>
                        <a:schemeClr val="bg1"/>
                      </a:solidFill>
                      <a:cs typeface="+mn-ea"/>
                      <a:sym typeface="+mn-lt"/>
                    </a:rPr>
                    <a:t>01</a:t>
                  </a:r>
                  <a:endParaRPr lang="zh-CN" altLang="en-US" sz="2800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5" name="组合 54"/>
            <p:cNvGrpSpPr/>
            <p:nvPr/>
          </p:nvGrpSpPr>
          <p:grpSpPr>
            <a:xfrm>
              <a:off x="7694109" y="2873395"/>
              <a:ext cx="2733107" cy="849953"/>
              <a:chOff x="3368851" y="5848823"/>
              <a:chExt cx="2733107" cy="849953"/>
            </a:xfrm>
          </p:grpSpPr>
          <p:grpSp>
            <p:nvGrpSpPr>
              <p:cNvPr id="32" name="组合 31"/>
              <p:cNvGrpSpPr/>
              <p:nvPr/>
            </p:nvGrpSpPr>
            <p:grpSpPr>
              <a:xfrm>
                <a:off x="4275817" y="5848823"/>
                <a:ext cx="1826141" cy="849953"/>
                <a:chOff x="2739542" y="3241456"/>
                <a:chExt cx="1826141" cy="849953"/>
              </a:xfrm>
            </p:grpSpPr>
            <p:sp>
              <p:nvSpPr>
                <p:cNvPr id="36" name="文本框 38"/>
                <p:cNvSpPr txBox="1"/>
                <p:nvPr/>
              </p:nvSpPr>
              <p:spPr>
                <a:xfrm>
                  <a:off x="2739542" y="3241456"/>
                  <a:ext cx="182614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3200" b="1" dirty="0">
                      <a:solidFill>
                        <a:srgbClr val="50638A"/>
                      </a:solidFill>
                      <a:cs typeface="+mn-ea"/>
                      <a:sym typeface="+mn-lt"/>
                    </a:rPr>
                    <a:t>竞赛奖项</a:t>
                  </a:r>
                </a:p>
              </p:txBody>
            </p:sp>
            <p:sp>
              <p:nvSpPr>
                <p:cNvPr id="37" name="文本框 39"/>
                <p:cNvSpPr txBox="1"/>
                <p:nvPr/>
              </p:nvSpPr>
              <p:spPr>
                <a:xfrm>
                  <a:off x="2739542" y="3814410"/>
                  <a:ext cx="165622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200" spc="2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Campus Activity</a:t>
                  </a: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3368851" y="5913799"/>
                <a:ext cx="720000" cy="720000"/>
                <a:chOff x="1611325" y="3138396"/>
                <a:chExt cx="720000" cy="720000"/>
              </a:xfrm>
            </p:grpSpPr>
            <p:sp>
              <p:nvSpPr>
                <p:cNvPr id="34" name="图形 12"/>
                <p:cNvSpPr/>
                <p:nvPr/>
              </p:nvSpPr>
              <p:spPr>
                <a:xfrm rot="2769127">
                  <a:off x="1611325" y="3138396"/>
                  <a:ext cx="720000" cy="720000"/>
                </a:xfrm>
                <a:prstGeom prst="roundRect">
                  <a:avLst/>
                </a:prstGeom>
                <a:solidFill>
                  <a:srgbClr val="D9AFA6"/>
                </a:solidFill>
                <a:ln w="232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1672205" y="3236786"/>
                  <a:ext cx="5982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02</a:t>
                  </a:r>
                  <a:endParaRPr lang="zh-CN" altLang="en-US" sz="28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4" name="组合 53"/>
            <p:cNvGrpSpPr/>
            <p:nvPr/>
          </p:nvGrpSpPr>
          <p:grpSpPr>
            <a:xfrm>
              <a:off x="3368851" y="4437309"/>
              <a:ext cx="2733107" cy="849953"/>
              <a:chOff x="3368851" y="4466337"/>
              <a:chExt cx="2733107" cy="849953"/>
            </a:xfrm>
          </p:grpSpPr>
          <p:grpSp>
            <p:nvGrpSpPr>
              <p:cNvPr id="39" name="组合 38"/>
              <p:cNvGrpSpPr/>
              <p:nvPr/>
            </p:nvGrpSpPr>
            <p:grpSpPr>
              <a:xfrm>
                <a:off x="4275817" y="4466337"/>
                <a:ext cx="1826141" cy="849953"/>
                <a:chOff x="2739542" y="3241456"/>
                <a:chExt cx="1826141" cy="849953"/>
              </a:xfrm>
            </p:grpSpPr>
            <p:sp>
              <p:nvSpPr>
                <p:cNvPr id="43" name="文本框 38"/>
                <p:cNvSpPr txBox="1"/>
                <p:nvPr/>
              </p:nvSpPr>
              <p:spPr>
                <a:xfrm>
                  <a:off x="2739542" y="3241456"/>
                  <a:ext cx="182614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3200" b="1" dirty="0">
                      <a:solidFill>
                        <a:srgbClr val="50638A"/>
                      </a:solidFill>
                      <a:cs typeface="+mn-ea"/>
                      <a:sym typeface="+mn-lt"/>
                    </a:rPr>
                    <a:t>科研经历</a:t>
                  </a:r>
                </a:p>
              </p:txBody>
            </p:sp>
            <p:sp>
              <p:nvSpPr>
                <p:cNvPr id="44" name="文本框 39"/>
                <p:cNvSpPr txBox="1"/>
                <p:nvPr/>
              </p:nvSpPr>
              <p:spPr>
                <a:xfrm>
                  <a:off x="2739542" y="3814410"/>
                  <a:ext cx="1729961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200" spc="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Social practice</a:t>
                  </a:r>
                </a:p>
              </p:txBody>
            </p:sp>
          </p:grpSp>
          <p:grpSp>
            <p:nvGrpSpPr>
              <p:cNvPr id="40" name="组合 39"/>
              <p:cNvGrpSpPr/>
              <p:nvPr/>
            </p:nvGrpSpPr>
            <p:grpSpPr>
              <a:xfrm>
                <a:off x="3368851" y="4531313"/>
                <a:ext cx="720000" cy="720000"/>
                <a:chOff x="1611325" y="3138396"/>
                <a:chExt cx="720000" cy="720000"/>
              </a:xfrm>
            </p:grpSpPr>
            <p:sp>
              <p:nvSpPr>
                <p:cNvPr id="41" name="图形 12"/>
                <p:cNvSpPr/>
                <p:nvPr/>
              </p:nvSpPr>
              <p:spPr>
                <a:xfrm rot="2769127">
                  <a:off x="1611325" y="3138396"/>
                  <a:ext cx="720000" cy="720000"/>
                </a:xfrm>
                <a:prstGeom prst="roundRect">
                  <a:avLst/>
                </a:prstGeom>
                <a:solidFill>
                  <a:srgbClr val="D9AFA6"/>
                </a:solidFill>
                <a:ln w="232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1672205" y="3236786"/>
                  <a:ext cx="5982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>
                      <a:solidFill>
                        <a:schemeClr val="bg1"/>
                      </a:solidFill>
                      <a:cs typeface="+mn-ea"/>
                      <a:sym typeface="+mn-lt"/>
                    </a:rPr>
                    <a:t>03</a:t>
                  </a:r>
                  <a:endParaRPr lang="zh-CN" altLang="en-US" sz="2800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grpSp>
          <p:nvGrpSpPr>
            <p:cNvPr id="56" name="组合 55"/>
            <p:cNvGrpSpPr/>
            <p:nvPr/>
          </p:nvGrpSpPr>
          <p:grpSpPr>
            <a:xfrm>
              <a:off x="7694109" y="4437309"/>
              <a:ext cx="2733107" cy="849953"/>
              <a:chOff x="3368851" y="7412737"/>
              <a:chExt cx="2733107" cy="849953"/>
            </a:xfrm>
          </p:grpSpPr>
          <p:grpSp>
            <p:nvGrpSpPr>
              <p:cNvPr id="46" name="组合 45"/>
              <p:cNvGrpSpPr/>
              <p:nvPr/>
            </p:nvGrpSpPr>
            <p:grpSpPr>
              <a:xfrm>
                <a:off x="4275817" y="7412737"/>
                <a:ext cx="1826141" cy="849953"/>
                <a:chOff x="2739542" y="3241456"/>
                <a:chExt cx="1826141" cy="849953"/>
              </a:xfrm>
            </p:grpSpPr>
            <p:sp>
              <p:nvSpPr>
                <p:cNvPr id="50" name="文本框 38"/>
                <p:cNvSpPr txBox="1"/>
                <p:nvPr/>
              </p:nvSpPr>
              <p:spPr>
                <a:xfrm>
                  <a:off x="2739542" y="3241456"/>
                  <a:ext cx="182614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zh-CN" altLang="en-US" sz="3200" b="1" dirty="0">
                      <a:solidFill>
                        <a:srgbClr val="50638A"/>
                      </a:solidFill>
                      <a:cs typeface="+mn-ea"/>
                      <a:sym typeface="+mn-lt"/>
                    </a:rPr>
                    <a:t>学生工作</a:t>
                  </a:r>
                </a:p>
              </p:txBody>
            </p:sp>
            <p:sp>
              <p:nvSpPr>
                <p:cNvPr id="51" name="文本框 39"/>
                <p:cNvSpPr txBox="1"/>
                <p:nvPr/>
              </p:nvSpPr>
              <p:spPr>
                <a:xfrm>
                  <a:off x="2739542" y="3814410"/>
                  <a:ext cx="182569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US" altLang="zh-CN" sz="1200" spc="30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cs typeface="+mn-ea"/>
                      <a:sym typeface="+mn-lt"/>
                    </a:rPr>
                    <a:t>Future Planning</a:t>
                  </a: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3368851" y="7477713"/>
                <a:ext cx="720000" cy="720000"/>
                <a:chOff x="1611325" y="3138396"/>
                <a:chExt cx="720000" cy="720000"/>
              </a:xfrm>
            </p:grpSpPr>
            <p:sp>
              <p:nvSpPr>
                <p:cNvPr id="48" name="图形 12"/>
                <p:cNvSpPr/>
                <p:nvPr/>
              </p:nvSpPr>
              <p:spPr>
                <a:xfrm rot="2769127">
                  <a:off x="1611325" y="3138396"/>
                  <a:ext cx="720000" cy="720000"/>
                </a:xfrm>
                <a:prstGeom prst="roundRect">
                  <a:avLst/>
                </a:prstGeom>
                <a:solidFill>
                  <a:srgbClr val="50638A"/>
                </a:solidFill>
                <a:ln w="2324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pPr algn="ctr"/>
                  <a:endParaRPr lang="zh-CN" altLang="en-US" b="1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文本框 48"/>
                <p:cNvSpPr txBox="1"/>
                <p:nvPr/>
              </p:nvSpPr>
              <p:spPr>
                <a:xfrm>
                  <a:off x="1672205" y="3236786"/>
                  <a:ext cx="59824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800" b="1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04</a:t>
                  </a:r>
                  <a:endParaRPr lang="zh-CN" altLang="en-US" sz="28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</p:grpSp>
      <p:grpSp>
        <p:nvGrpSpPr>
          <p:cNvPr id="60" name="组合 59"/>
          <p:cNvGrpSpPr/>
          <p:nvPr/>
        </p:nvGrpSpPr>
        <p:grpSpPr>
          <a:xfrm>
            <a:off x="869749" y="1100998"/>
            <a:ext cx="3863014" cy="738554"/>
            <a:chOff x="869749" y="1086484"/>
            <a:chExt cx="3863014" cy="738554"/>
          </a:xfrm>
        </p:grpSpPr>
        <p:sp>
          <p:nvSpPr>
            <p:cNvPr id="58" name="文本框 57"/>
            <p:cNvSpPr txBox="1"/>
            <p:nvPr/>
          </p:nvSpPr>
          <p:spPr>
            <a:xfrm>
              <a:off x="2304849" y="1224237"/>
              <a:ext cx="2427914" cy="5232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zh-CN" sz="2800" spc="150" dirty="0">
                  <a:solidFill>
                    <a:srgbClr val="50638A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/CONTENT</a:t>
              </a:r>
              <a:endParaRPr lang="zh-CN" altLang="en-US" sz="2800" spc="150" dirty="0">
                <a:solidFill>
                  <a:srgbClr val="50638A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869749" y="1086484"/>
              <a:ext cx="1639691" cy="738554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4400" i="0" u="none" strike="noStrike" kern="0" cap="none" spc="0" normalizeH="0" baseline="0" noProof="0" dirty="0">
                  <a:ln>
                    <a:noFill/>
                  </a:ln>
                  <a:solidFill>
                    <a:srgbClr val="50638A"/>
                  </a:solidFill>
                  <a:effectLst/>
                  <a:uLnTx/>
                  <a:uFillTx/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目 录</a:t>
              </a:r>
              <a:endParaRPr kumimoji="0" lang="zh-CN" altLang="en-US" sz="4000" i="0" u="none" strike="noStrike" kern="0" cap="none" spc="0" normalizeH="0" baseline="0" noProof="0" dirty="0">
                <a:ln>
                  <a:noFill/>
                </a:ln>
                <a:solidFill>
                  <a:srgbClr val="50638A"/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897414" y="1786569"/>
            <a:ext cx="6397173" cy="3284862"/>
            <a:chOff x="2746827" y="2027673"/>
            <a:chExt cx="6397173" cy="3284862"/>
          </a:xfrm>
        </p:grpSpPr>
        <p:sp>
          <p:nvSpPr>
            <p:cNvPr id="2" name="文本框 38"/>
            <p:cNvSpPr txBox="1"/>
            <p:nvPr/>
          </p:nvSpPr>
          <p:spPr>
            <a:xfrm>
              <a:off x="4468086" y="3429000"/>
              <a:ext cx="29546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5400">
                  <a:solidFill>
                    <a:srgbClr val="50638A"/>
                  </a:solidFill>
                  <a:latin typeface="汉仪大宋简" panose="02010609000101010101" pitchFamily="49" charset="-122"/>
                  <a:ea typeface="汉仪大宋简" panose="02010609000101010101" pitchFamily="49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lt"/>
                </a:rPr>
                <a:t>个人介绍</a:t>
              </a: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401141" y="2027673"/>
              <a:ext cx="1088544" cy="1088544"/>
              <a:chOff x="3208368" y="3130759"/>
              <a:chExt cx="1088544" cy="1088544"/>
            </a:xfrm>
            <a:solidFill>
              <a:srgbClr val="D9AFA6"/>
            </a:solidFill>
          </p:grpSpPr>
          <p:sp>
            <p:nvSpPr>
              <p:cNvPr id="3" name="图形 12"/>
              <p:cNvSpPr/>
              <p:nvPr/>
            </p:nvSpPr>
            <p:spPr>
              <a:xfrm rot="2769127">
                <a:off x="3208368" y="3130759"/>
                <a:ext cx="1088544" cy="1088544"/>
              </a:xfrm>
              <a:prstGeom prst="roundRect">
                <a:avLst/>
              </a:prstGeom>
              <a:grpFill/>
              <a:ln w="232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3306044" y="3259533"/>
                <a:ext cx="89319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800" b="1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  <a:endParaRPr lang="zh-CN" altLang="en-US" sz="48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5588154" y="5312535"/>
              <a:ext cx="714519" cy="0"/>
            </a:xfrm>
            <a:prstGeom prst="line">
              <a:avLst/>
            </a:prstGeom>
            <a:ln w="12700">
              <a:solidFill>
                <a:srgbClr val="50638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746827" y="4437786"/>
              <a:ext cx="63971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spc="30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Lorem ipsum dolor sit amet, consectetuer adipiscing elit. Maecenas porttitor congue massa. </a:t>
              </a:r>
              <a:endParaRPr lang="zh-CN" altLang="en-US" sz="1200" spc="3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8098" y="1090848"/>
            <a:ext cx="4194721" cy="5631377"/>
          </a:xfrm>
          <a:prstGeom prst="rect">
            <a:avLst/>
          </a:prstGeom>
          <a:solidFill>
            <a:srgbClr val="506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95797" y="3791659"/>
            <a:ext cx="3343942" cy="2735942"/>
          </a:xfrm>
          <a:prstGeom prst="rect">
            <a:avLst/>
          </a:prstGeom>
          <a:effectLst/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姓名：雷显秋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籍贯：江西南昌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政治面貌： 共青团员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毕业院校： 中国矿业大学</a:t>
            </a:r>
            <a:endParaRPr lang="en-US" altLang="zh-CN" b="1" dirty="0">
              <a:solidFill>
                <a:schemeClr val="bg1"/>
              </a:solidFill>
              <a:cs typeface="+mn-ea"/>
              <a:sym typeface="+mn-lt"/>
            </a:endParaRPr>
          </a:p>
          <a:p>
            <a:pPr marL="457200" indent="-457200" algn="just">
              <a:lnSpc>
                <a:spcPct val="150000"/>
              </a:lnSpc>
              <a:spcBef>
                <a:spcPts val="1200"/>
              </a:spcBef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专业：计算机科学与技术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7716" y="477100"/>
            <a:ext cx="2031325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zh-CN" altLang="en-US" sz="2400" b="1">
                <a:solidFill>
                  <a:srgbClr val="50638A"/>
                </a:solidFill>
                <a:cs typeface="+mn-ea"/>
                <a:sym typeface="+mn-lt"/>
              </a:rPr>
              <a:t>个人基本信息</a:t>
            </a: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39586C49-D7DA-1364-064E-A093D79B4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568" y="1302270"/>
            <a:ext cx="2012901" cy="2232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0587EB6C-63B0-A930-8DA1-DF25C58FB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6968355"/>
              </p:ext>
            </p:extLst>
          </p:nvPr>
        </p:nvGraphicFramePr>
        <p:xfrm>
          <a:off x="4853796" y="1235005"/>
          <a:ext cx="7119667" cy="2255520"/>
        </p:xfrm>
        <a:graphic>
          <a:graphicData uri="http://schemas.openxmlformats.org/drawingml/2006/table">
            <a:tbl>
              <a:tblPr firstRow="1" firstCol="1" bandRow="1">
                <a:tableStyleId>{3B4B98B0-60AC-42C2-AFA5-B58CD77FA1E5}</a:tableStyleId>
              </a:tblPr>
              <a:tblGrid>
                <a:gridCol w="14239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03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5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4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474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2400" u="none" strike="noStrike" kern="100" spc="6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学业成绩</a:t>
                      </a:r>
                      <a:endParaRPr lang="zh-CN" altLang="en-US" sz="2400" b="0" i="0" u="none" strike="noStrike" spc="6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rgbClr val="5A78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A78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A78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638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658">
                <a:tc>
                  <a:txBody>
                    <a:bodyPr/>
                    <a:lstStyle/>
                    <a:p>
                      <a:pPr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 u="none" strike="noStrike" kern="100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高等数学</a:t>
                      </a:r>
                      <a:endParaRPr lang="zh-CN" altLang="en-US" sz="1800" b="1" i="0" u="none" strike="noStrike" spc="600" dirty="0">
                        <a:solidFill>
                          <a:srgbClr val="50638A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1800" b="1" i="0" u="none" strike="noStrike" kern="100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概率论</a:t>
                      </a:r>
                      <a:endParaRPr lang="zh-CN" altLang="en-US" sz="1800" b="1" i="0" u="none" strike="noStrike" spc="600" dirty="0">
                        <a:solidFill>
                          <a:srgbClr val="50638A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u="none" strike="noStrike" kern="100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数据结构实验</a:t>
                      </a:r>
                      <a:endParaRPr lang="zh-CN" altLang="en-US" sz="1800" b="1" i="0" u="none" strike="noStrike" spc="600" dirty="0">
                        <a:solidFill>
                          <a:srgbClr val="50638A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i="0" u="none" strike="noStrike" kern="100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编译技术</a:t>
                      </a:r>
                      <a:endParaRPr lang="zh-CN" altLang="en-US" sz="1800" b="1" i="0" u="none" strike="noStrike" spc="600" dirty="0">
                        <a:solidFill>
                          <a:srgbClr val="50638A"/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i="0" u="none" strike="noStrike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Linux</a:t>
                      </a:r>
                      <a:r>
                        <a:rPr lang="zh-CN" altLang="en-US" sz="1800" b="1" i="0" u="none" strike="noStrike" spc="600" dirty="0">
                          <a:solidFill>
                            <a:srgbClr val="50638A"/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操作系统</a:t>
                      </a: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120">
                <a:tc>
                  <a:txBody>
                    <a:bodyPr/>
                    <a:lstStyle/>
                    <a:p>
                      <a:pPr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0" i="1" u="none" strike="noStrike" kern="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</a:t>
                      </a:r>
                      <a:endParaRPr lang="en-US" altLang="zh-CN" sz="3200" b="0" i="1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2400" b="0" i="1" u="none" strike="noStrike" kern="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99</a:t>
                      </a:r>
                      <a:endParaRPr lang="en-US" altLang="zh-CN" sz="3200" b="0" i="1" u="none" strike="noStrike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u="none" strike="noStrike" kern="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100</a:t>
                      </a: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u="none" strike="noStrike" kern="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93</a:t>
                      </a: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u="none" strike="noStrike" kern="1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ea"/>
                          <a:sym typeface="+mn-lt"/>
                        </a:rPr>
                        <a:t>96</a:t>
                      </a:r>
                    </a:p>
                  </a:txBody>
                  <a:tcPr marL="68580" marR="68580" marT="7620" marB="0" anchor="ctr">
                    <a:lnL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63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6" name="矩形 25">
            <a:extLst>
              <a:ext uri="{FF2B5EF4-FFF2-40B4-BE49-F238E27FC236}">
                <a16:creationId xmlns:a16="http://schemas.microsoft.com/office/drawing/2014/main" id="{CAEB6EA5-A2FE-2D33-7F14-D3DF044EC8B6}"/>
              </a:ext>
            </a:extLst>
          </p:cNvPr>
          <p:cNvSpPr/>
          <p:nvPr/>
        </p:nvSpPr>
        <p:spPr>
          <a:xfrm>
            <a:off x="7909765" y="4027429"/>
            <a:ext cx="4004013" cy="2264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       本科期间学业表现优良，修读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77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门课程，其中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门获满绩点、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38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门成绩达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90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分及以上，数理基础扎实，专业课程和实践环节表现突出。获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下学期、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年上学期高等数学学习之星，获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2023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年校级一等奖学金、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 2024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年校级二等奖学金。</a:t>
            </a: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90F1D02-0B08-1B5C-AA79-4D9BD5A7D16C}"/>
              </a:ext>
            </a:extLst>
          </p:cNvPr>
          <p:cNvGrpSpPr/>
          <p:nvPr/>
        </p:nvGrpSpPr>
        <p:grpSpPr>
          <a:xfrm>
            <a:off x="4911264" y="4143710"/>
            <a:ext cx="2938625" cy="2139326"/>
            <a:chOff x="4990518" y="4126457"/>
            <a:chExt cx="2938625" cy="2139326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DF8A51A-5F23-15D6-E1F7-4C5534FD6B15}"/>
                </a:ext>
              </a:extLst>
            </p:cNvPr>
            <p:cNvSpPr/>
            <p:nvPr/>
          </p:nvSpPr>
          <p:spPr>
            <a:xfrm>
              <a:off x="4990518" y="5257799"/>
              <a:ext cx="223811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Clr>
                  <a:srgbClr val="50638A"/>
                </a:buClr>
                <a:buFont typeface="Wingdings" panose="05000000000000000000" pitchFamily="2" charset="2"/>
                <a:buChar char="n"/>
              </a:pPr>
              <a:r>
                <a:rPr lang="zh-CN" altLang="en-US" b="1" dirty="0">
                  <a:solidFill>
                    <a:srgbClr val="50638A"/>
                  </a:solidFill>
                  <a:cs typeface="+mn-ea"/>
                  <a:sym typeface="+mn-lt"/>
                </a:rPr>
                <a:t>专业</a:t>
              </a:r>
              <a:r>
                <a:rPr lang="zh-CN" altLang="zh-CN" b="1" dirty="0">
                  <a:solidFill>
                    <a:srgbClr val="50638A"/>
                  </a:solidFill>
                  <a:cs typeface="+mn-ea"/>
                  <a:sym typeface="+mn-lt"/>
                </a:rPr>
                <a:t>排名</a:t>
              </a:r>
              <a:r>
                <a:rPr lang="en-US" altLang="zh-CN" b="1" dirty="0">
                  <a:solidFill>
                    <a:srgbClr val="50638A"/>
                  </a:solidFill>
                  <a:cs typeface="+mn-ea"/>
                  <a:sym typeface="+mn-lt"/>
                </a:rPr>
                <a:t>: </a:t>
              </a:r>
              <a:r>
                <a:rPr lang="en-US" altLang="zh-CN" dirty="0">
                  <a:solidFill>
                    <a:srgbClr val="595959"/>
                  </a:solidFill>
                  <a:cs typeface="+mn-ea"/>
                  <a:sym typeface="+mn-lt"/>
                </a:rPr>
                <a:t>21/191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540EDA5-9DA9-0235-C0CE-B7A359D303C0}"/>
                </a:ext>
              </a:extLst>
            </p:cNvPr>
            <p:cNvSpPr/>
            <p:nvPr/>
          </p:nvSpPr>
          <p:spPr>
            <a:xfrm>
              <a:off x="4990518" y="4126457"/>
              <a:ext cx="2767505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Clr>
                  <a:srgbClr val="50638A"/>
                </a:buClr>
                <a:buFont typeface="Wingdings" panose="05000000000000000000" pitchFamily="2" charset="2"/>
                <a:buChar char="n"/>
              </a:pPr>
              <a:r>
                <a:rPr lang="en-US" altLang="zh-CN" b="1" dirty="0">
                  <a:solidFill>
                    <a:srgbClr val="50638A"/>
                  </a:solidFill>
                  <a:cs typeface="+mn-ea"/>
                  <a:sym typeface="+mn-lt"/>
                </a:rPr>
                <a:t>GPA</a:t>
              </a:r>
              <a:r>
                <a:rPr lang="zh-CN" altLang="en-US" b="1" dirty="0">
                  <a:solidFill>
                    <a:srgbClr val="50638A"/>
                  </a:solidFill>
                  <a:cs typeface="+mn-ea"/>
                  <a:sym typeface="+mn-lt"/>
                </a:rPr>
                <a:t>： 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4.12 / 5.0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25C92460-2905-8CE4-3CA0-D9C87969617D}"/>
                </a:ext>
              </a:extLst>
            </p:cNvPr>
            <p:cNvSpPr/>
            <p:nvPr/>
          </p:nvSpPr>
          <p:spPr>
            <a:xfrm>
              <a:off x="4990518" y="5823471"/>
              <a:ext cx="2164823" cy="4423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Clr>
                  <a:srgbClr val="50638A"/>
                </a:buClr>
                <a:buFont typeface="Wingdings" panose="05000000000000000000" pitchFamily="2" charset="2"/>
                <a:buChar char="n"/>
              </a:pPr>
              <a:r>
                <a:rPr lang="zh-CN" altLang="en-US" b="1" dirty="0">
                  <a:solidFill>
                    <a:srgbClr val="50638A"/>
                  </a:solidFill>
                  <a:cs typeface="+mn-ea"/>
                  <a:sym typeface="+mn-lt"/>
                </a:rPr>
                <a:t>英语水平：</a:t>
              </a:r>
              <a:r>
                <a:rPr lang="en-US" altLang="zh-CN" dirty="0">
                  <a:solidFill>
                    <a:srgbClr val="50638A"/>
                  </a:solidFill>
                  <a:cs typeface="+mn-ea"/>
                  <a:sym typeface="+mn-lt"/>
                </a:rPr>
                <a:t>CET6</a:t>
              </a:r>
              <a:endParaRPr lang="zh-CN" altLang="zh-CN" kern="100" dirty="0">
                <a:cs typeface="+mn-ea"/>
                <a:sym typeface="+mn-lt"/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3516D0AB-2D59-9A16-684E-2D73BB3A084E}"/>
                </a:ext>
              </a:extLst>
            </p:cNvPr>
            <p:cNvSpPr/>
            <p:nvPr/>
          </p:nvSpPr>
          <p:spPr>
            <a:xfrm>
              <a:off x="4990518" y="4692128"/>
              <a:ext cx="293862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750" indent="-285750">
                <a:buClr>
                  <a:srgbClr val="50638A"/>
                </a:buClr>
                <a:buFont typeface="Wingdings" panose="05000000000000000000" pitchFamily="2" charset="2"/>
                <a:buChar char="n"/>
              </a:pPr>
              <a:r>
                <a:rPr lang="zh-CN" altLang="en-US" b="1" dirty="0">
                  <a:solidFill>
                    <a:srgbClr val="50638A"/>
                  </a:solidFill>
                  <a:cs typeface="+mn-ea"/>
                  <a:sym typeface="+mn-lt"/>
                </a:rPr>
                <a:t>加权成绩： </a:t>
              </a:r>
              <a:r>
                <a:rPr lang="en-US" altLang="zh-CN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94.32 / 100 </a:t>
              </a:r>
              <a:endPara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4CB5D4E7-DEF1-2C84-86E1-D3F28A59AD71}"/>
              </a:ext>
            </a:extLst>
          </p:cNvPr>
          <p:cNvCxnSpPr>
            <a:cxnSpLocks/>
          </p:cNvCxnSpPr>
          <p:nvPr/>
        </p:nvCxnSpPr>
        <p:spPr>
          <a:xfrm flipV="1">
            <a:off x="7746949" y="3890751"/>
            <a:ext cx="0" cy="2636850"/>
          </a:xfrm>
          <a:prstGeom prst="line">
            <a:avLst/>
          </a:prstGeom>
          <a:ln>
            <a:solidFill>
              <a:srgbClr val="50638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897414" y="1786569"/>
            <a:ext cx="6397173" cy="3284862"/>
            <a:chOff x="2746827" y="2027673"/>
            <a:chExt cx="6397173" cy="3284862"/>
          </a:xfrm>
        </p:grpSpPr>
        <p:sp>
          <p:nvSpPr>
            <p:cNvPr id="2" name="文本框 38"/>
            <p:cNvSpPr txBox="1"/>
            <p:nvPr/>
          </p:nvSpPr>
          <p:spPr>
            <a:xfrm>
              <a:off x="4468089" y="3429000"/>
              <a:ext cx="29546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5400">
                  <a:solidFill>
                    <a:srgbClr val="50638A"/>
                  </a:solidFill>
                  <a:latin typeface="汉仪大宋简" panose="02010609000101010101" pitchFamily="49" charset="-122"/>
                  <a:ea typeface="汉仪大宋简" panose="02010609000101010101" pitchFamily="49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lt"/>
                </a:rPr>
                <a:t>竞赛奖项</a:t>
              </a: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401141" y="2027673"/>
              <a:ext cx="1088544" cy="1088544"/>
              <a:chOff x="3208368" y="3130759"/>
              <a:chExt cx="1088544" cy="1088544"/>
            </a:xfrm>
            <a:solidFill>
              <a:srgbClr val="D9AFA6"/>
            </a:solidFill>
          </p:grpSpPr>
          <p:sp>
            <p:nvSpPr>
              <p:cNvPr id="3" name="图形 12"/>
              <p:cNvSpPr/>
              <p:nvPr/>
            </p:nvSpPr>
            <p:spPr>
              <a:xfrm rot="2769127">
                <a:off x="3208368" y="3130759"/>
                <a:ext cx="1088544" cy="1088544"/>
              </a:xfrm>
              <a:prstGeom prst="roundRect">
                <a:avLst/>
              </a:prstGeom>
              <a:grpFill/>
              <a:ln w="232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3306044" y="3259533"/>
                <a:ext cx="89319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800" b="1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  <a:endParaRPr lang="zh-CN" altLang="en-US" sz="48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5588154" y="5312535"/>
              <a:ext cx="714519" cy="0"/>
            </a:xfrm>
            <a:prstGeom prst="line">
              <a:avLst/>
            </a:prstGeom>
            <a:ln w="12700">
              <a:solidFill>
                <a:srgbClr val="50638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746827" y="4437786"/>
              <a:ext cx="63971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Lorem ipsum dolor sit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amet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consectetuer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adipiscing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elit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Maecenas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porttitor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congue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massa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</a:t>
              </a:r>
              <a:endParaRPr lang="zh-CN" altLang="en-US" sz="1200" spc="3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507716" y="477100"/>
            <a:ext cx="1415772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zh-CN" altLang="en-US" sz="2400" b="1" dirty="0">
                <a:solidFill>
                  <a:srgbClr val="50638A"/>
                </a:solidFill>
                <a:cs typeface="+mn-ea"/>
                <a:sym typeface="+mn-lt"/>
              </a:rPr>
              <a:t>竞赛奖项</a:t>
            </a:r>
          </a:p>
        </p:txBody>
      </p:sp>
      <p:sp>
        <p:nvSpPr>
          <p:cNvPr id="2" name="矩形 1"/>
          <p:cNvSpPr/>
          <p:nvPr/>
        </p:nvSpPr>
        <p:spPr>
          <a:xfrm>
            <a:off x="5335649" y="1117908"/>
            <a:ext cx="6462789" cy="2346278"/>
          </a:xfrm>
          <a:prstGeom prst="rect">
            <a:avLst/>
          </a:prstGeom>
          <a:solidFill>
            <a:srgbClr val="5063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7D930B4-0723-7C26-A4CB-167F7C535B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3" y="1117908"/>
            <a:ext cx="2748864" cy="38883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34A2A62-DF67-04AB-09C1-FBA2F1AE9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044" y="1545595"/>
            <a:ext cx="3209259" cy="24718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0421A34A-CF68-D77C-8796-8F166A88D6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727" y="3862666"/>
            <a:ext cx="3829397" cy="27234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26" name="组合 25"/>
          <p:cNvGrpSpPr/>
          <p:nvPr/>
        </p:nvGrpSpPr>
        <p:grpSpPr>
          <a:xfrm>
            <a:off x="5551220" y="1225537"/>
            <a:ext cx="6126574" cy="2131020"/>
            <a:chOff x="5388115" y="1383170"/>
            <a:chExt cx="6126574" cy="2131020"/>
          </a:xfrm>
        </p:grpSpPr>
        <p:sp>
          <p:nvSpPr>
            <p:cNvPr id="4" name="文本框 3"/>
            <p:cNvSpPr txBox="1"/>
            <p:nvPr/>
          </p:nvSpPr>
          <p:spPr>
            <a:xfrm>
              <a:off x="5388115" y="1988451"/>
              <a:ext cx="6126574" cy="15257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在数学建模、软件设计、程序设计及高等数学等竞赛中获得多次奖项，包括美国大学生数学建模竞赛</a:t>
              </a:r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H</a:t>
              </a:r>
              <a:r>
                <a:rPr lang="zh-CN" altLang="en-US" sz="1600" dirty="0">
                  <a:solidFill>
                    <a:schemeClr val="bg1"/>
                  </a:solidFill>
                  <a:cs typeface="+mn-ea"/>
                  <a:sym typeface="+mn-lt"/>
                </a:rPr>
                <a:t>奖、蓝桥杯软件赛省二等奖等，体现出扎实的数理基础、较强的建模分析与编程实践能力，以及良好的创新意识和团队协作能力。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5468648" y="1913889"/>
              <a:ext cx="914492" cy="21600"/>
            </a:xfrm>
            <a:prstGeom prst="rect">
              <a:avLst/>
            </a:prstGeom>
            <a:solidFill>
              <a:srgbClr val="D9AF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5388115" y="138317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cs typeface="+mn-ea"/>
                  <a:sym typeface="+mn-lt"/>
                </a:rPr>
                <a:t>获得奖项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F1F2F87C-0604-9839-4B4C-0A4BFFD3C620}"/>
              </a:ext>
            </a:extLst>
          </p:cNvPr>
          <p:cNvGrpSpPr/>
          <p:nvPr/>
        </p:nvGrpSpPr>
        <p:grpSpPr>
          <a:xfrm>
            <a:off x="5416006" y="3653795"/>
            <a:ext cx="6595081" cy="2859137"/>
            <a:chOff x="5474999" y="3878128"/>
            <a:chExt cx="6595081" cy="2859137"/>
          </a:xfrm>
        </p:grpSpPr>
        <p:grpSp>
          <p:nvGrpSpPr>
            <p:cNvPr id="11" name="组合 10"/>
            <p:cNvGrpSpPr/>
            <p:nvPr/>
          </p:nvGrpSpPr>
          <p:grpSpPr>
            <a:xfrm>
              <a:off x="5474999" y="4485480"/>
              <a:ext cx="6595081" cy="417743"/>
              <a:chOff x="5691842" y="3735383"/>
              <a:chExt cx="6595081" cy="417743"/>
            </a:xfrm>
          </p:grpSpPr>
          <p:sp>
            <p:nvSpPr>
              <p:cNvPr id="21" name="椭圆 20"/>
              <p:cNvSpPr/>
              <p:nvPr/>
            </p:nvSpPr>
            <p:spPr>
              <a:xfrm>
                <a:off x="5691842" y="3788345"/>
                <a:ext cx="362857" cy="362857"/>
              </a:xfrm>
              <a:prstGeom prst="ellipse">
                <a:avLst/>
              </a:prstGeom>
              <a:solidFill>
                <a:srgbClr val="D9A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6054699" y="3735383"/>
                <a:ext cx="6232224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第十五届”中国软件杯” 大学生软件设计大赛东部赛区三等奖</a:t>
                </a: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5474999" y="5092832"/>
              <a:ext cx="5064604" cy="429729"/>
              <a:chOff x="5691842" y="4318379"/>
              <a:chExt cx="5064604" cy="429729"/>
            </a:xfrm>
          </p:grpSpPr>
          <p:sp>
            <p:nvSpPr>
              <p:cNvPr id="19" name="文本框 18"/>
              <p:cNvSpPr txBox="1"/>
              <p:nvPr/>
            </p:nvSpPr>
            <p:spPr>
              <a:xfrm>
                <a:off x="6096000" y="4318379"/>
                <a:ext cx="4660446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2025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年第二十二届五一数学建模竞赛三等奖</a:t>
                </a: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5691842" y="4385251"/>
                <a:ext cx="362857" cy="362857"/>
              </a:xfrm>
              <a:prstGeom prst="ellipse">
                <a:avLst/>
              </a:prstGeom>
              <a:solidFill>
                <a:srgbClr val="D9A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5474999" y="5712170"/>
              <a:ext cx="5064604" cy="417743"/>
              <a:chOff x="5691842" y="4832151"/>
              <a:chExt cx="5064604" cy="417743"/>
            </a:xfrm>
          </p:grpSpPr>
          <p:sp>
            <p:nvSpPr>
              <p:cNvPr id="17" name="文本框 16"/>
              <p:cNvSpPr txBox="1"/>
              <p:nvPr/>
            </p:nvSpPr>
            <p:spPr>
              <a:xfrm>
                <a:off x="6096000" y="4832151"/>
                <a:ext cx="4660446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第十五届蓝桥杯大赛软件赛省赛二等奖</a:t>
                </a:r>
              </a:p>
            </p:txBody>
          </p:sp>
          <p:sp>
            <p:nvSpPr>
              <p:cNvPr id="18" name="椭圆 17"/>
              <p:cNvSpPr/>
              <p:nvPr/>
            </p:nvSpPr>
            <p:spPr>
              <a:xfrm>
                <a:off x="5691842" y="4876767"/>
                <a:ext cx="362857" cy="362857"/>
              </a:xfrm>
              <a:prstGeom prst="ellipse">
                <a:avLst/>
              </a:prstGeom>
              <a:solidFill>
                <a:srgbClr val="D9A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>
              <a:off x="5474999" y="3878128"/>
              <a:ext cx="5758274" cy="417743"/>
              <a:chOff x="5691842" y="5545136"/>
              <a:chExt cx="5758274" cy="417743"/>
            </a:xfrm>
          </p:grpSpPr>
          <p:sp>
            <p:nvSpPr>
              <p:cNvPr id="15" name="文本框 14"/>
              <p:cNvSpPr txBox="1"/>
              <p:nvPr/>
            </p:nvSpPr>
            <p:spPr>
              <a:xfrm>
                <a:off x="6096000" y="5545136"/>
                <a:ext cx="5354116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美国大学生数学建模竞赛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H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奖</a:t>
                </a:r>
              </a:p>
            </p:txBody>
          </p:sp>
          <p:sp>
            <p:nvSpPr>
              <p:cNvPr id="16" name="椭圆 15"/>
              <p:cNvSpPr/>
              <p:nvPr/>
            </p:nvSpPr>
            <p:spPr>
              <a:xfrm>
                <a:off x="5691842" y="5600022"/>
                <a:ext cx="362857" cy="362857"/>
              </a:xfrm>
              <a:prstGeom prst="ellipse">
                <a:avLst/>
              </a:prstGeom>
              <a:solidFill>
                <a:srgbClr val="D9A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D600EA1-822D-232B-6AB0-AED6F062C0E1}"/>
                </a:ext>
              </a:extLst>
            </p:cNvPr>
            <p:cNvGrpSpPr/>
            <p:nvPr/>
          </p:nvGrpSpPr>
          <p:grpSpPr>
            <a:xfrm>
              <a:off x="5474999" y="6319522"/>
              <a:ext cx="6382432" cy="417743"/>
              <a:chOff x="5691842" y="4832151"/>
              <a:chExt cx="6382432" cy="417743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91AAD1C-5C79-26A2-6BFF-F2DA57B6B137}"/>
                  </a:ext>
                </a:extLst>
              </p:cNvPr>
              <p:cNvSpPr txBox="1"/>
              <p:nvPr/>
            </p:nvSpPr>
            <p:spPr>
              <a:xfrm>
                <a:off x="6096000" y="4832151"/>
                <a:ext cx="5978274" cy="417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江苏省普通高等学校第二十一屆高等数学竞赛本科一级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A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三等奖</a:t>
                </a:r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78548AEE-6761-E11B-D59F-5B78F3358D3B}"/>
                  </a:ext>
                </a:extLst>
              </p:cNvPr>
              <p:cNvSpPr/>
              <p:nvPr/>
            </p:nvSpPr>
            <p:spPr>
              <a:xfrm>
                <a:off x="5691842" y="4876767"/>
                <a:ext cx="362857" cy="362857"/>
              </a:xfrm>
              <a:prstGeom prst="ellipse">
                <a:avLst/>
              </a:prstGeom>
              <a:solidFill>
                <a:srgbClr val="D9AF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2897414" y="1786569"/>
            <a:ext cx="6397173" cy="3284862"/>
            <a:chOff x="2746827" y="2027673"/>
            <a:chExt cx="6397173" cy="3284862"/>
          </a:xfrm>
        </p:grpSpPr>
        <p:sp>
          <p:nvSpPr>
            <p:cNvPr id="2" name="文本框 38"/>
            <p:cNvSpPr txBox="1"/>
            <p:nvPr/>
          </p:nvSpPr>
          <p:spPr>
            <a:xfrm>
              <a:off x="4468088" y="3429000"/>
              <a:ext cx="2954655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ctr">
                <a:defRPr sz="5400">
                  <a:solidFill>
                    <a:srgbClr val="50638A"/>
                  </a:solidFill>
                  <a:latin typeface="汉仪大宋简" panose="02010609000101010101" pitchFamily="49" charset="-122"/>
                  <a:ea typeface="汉仪大宋简" panose="02010609000101010101" pitchFamily="49" charset="-122"/>
                  <a:cs typeface="+mn-ea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latin typeface="思源宋体 CN Heavy" panose="02020900000000000000" pitchFamily="18" charset="-122"/>
                  <a:ea typeface="思源宋体 CN Heavy" panose="02020900000000000000" pitchFamily="18" charset="-122"/>
                  <a:sym typeface="+mn-lt"/>
                </a:rPr>
                <a:t>项目经历</a:t>
              </a: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5401141" y="2027673"/>
              <a:ext cx="1088544" cy="1088544"/>
              <a:chOff x="3208368" y="3130759"/>
              <a:chExt cx="1088544" cy="1088544"/>
            </a:xfrm>
            <a:solidFill>
              <a:srgbClr val="D9AFA6"/>
            </a:solidFill>
          </p:grpSpPr>
          <p:sp>
            <p:nvSpPr>
              <p:cNvPr id="3" name="图形 12"/>
              <p:cNvSpPr/>
              <p:nvPr/>
            </p:nvSpPr>
            <p:spPr>
              <a:xfrm rot="2769127">
                <a:off x="3208368" y="3130759"/>
                <a:ext cx="1088544" cy="1088544"/>
              </a:xfrm>
              <a:prstGeom prst="roundRect">
                <a:avLst/>
              </a:prstGeom>
              <a:grpFill/>
              <a:ln w="232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zh-CN" altLang="en-US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" name="文本框 3"/>
              <p:cNvSpPr txBox="1"/>
              <p:nvPr/>
            </p:nvSpPr>
            <p:spPr>
              <a:xfrm>
                <a:off x="3306044" y="3259533"/>
                <a:ext cx="89319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4800" b="1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  <a:endParaRPr lang="zh-CN" altLang="en-US" sz="4800" b="1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cxnSp>
          <p:nvCxnSpPr>
            <p:cNvPr id="7" name="直接连接符 6"/>
            <p:cNvCxnSpPr/>
            <p:nvPr/>
          </p:nvCxnSpPr>
          <p:spPr>
            <a:xfrm>
              <a:off x="5588154" y="5312535"/>
              <a:ext cx="714519" cy="0"/>
            </a:xfrm>
            <a:prstGeom prst="line">
              <a:avLst/>
            </a:prstGeom>
            <a:ln w="12700">
              <a:solidFill>
                <a:srgbClr val="50638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2746827" y="4437786"/>
              <a:ext cx="63971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spc="30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Lorem ipsum dolor sit amet, consectetuer adipiscing elit. Maecenas porttitor congue massa. </a:t>
              </a:r>
              <a:endParaRPr lang="zh-CN" altLang="en-US" sz="1200" spc="30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18997" y="2043245"/>
            <a:ext cx="8542124" cy="4227818"/>
            <a:chOff x="664356" y="1994131"/>
            <a:chExt cx="8542124" cy="4227818"/>
          </a:xfrm>
        </p:grpSpPr>
        <p:grpSp>
          <p:nvGrpSpPr>
            <p:cNvPr id="5" name="组合 4"/>
            <p:cNvGrpSpPr/>
            <p:nvPr/>
          </p:nvGrpSpPr>
          <p:grpSpPr>
            <a:xfrm>
              <a:off x="664356" y="1994131"/>
              <a:ext cx="8447911" cy="1525739"/>
              <a:chOff x="468413" y="3534848"/>
              <a:chExt cx="8447911" cy="1525739"/>
            </a:xfrm>
          </p:grpSpPr>
          <p:sp>
            <p:nvSpPr>
              <p:cNvPr id="12" name="圆角矩形 5"/>
              <p:cNvSpPr/>
              <p:nvPr/>
            </p:nvSpPr>
            <p:spPr>
              <a:xfrm>
                <a:off x="468413" y="3701861"/>
                <a:ext cx="1593207" cy="599577"/>
              </a:xfrm>
              <a:prstGeom prst="rect">
                <a:avLst/>
              </a:prstGeom>
              <a:solidFill>
                <a:srgbClr val="50638A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项目概述</a:t>
                </a: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2324073" y="3534848"/>
                <a:ext cx="6592251" cy="15257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面向糖尿病视网膜病变（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DR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）智能筛查需求，围绕眼底彩照的病变分级、血管分割与微动脉瘤检测开展研究。项目参考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VisionFM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眼科基础模型及多尺度分割到分类网络，构建从图像预处理、模型推理到结果评估与可视化的眼底图像分析流程。</a:t>
                </a: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664356" y="3957547"/>
              <a:ext cx="8542124" cy="2264402"/>
              <a:chOff x="468413" y="3052607"/>
              <a:chExt cx="8542124" cy="2264402"/>
            </a:xfrm>
          </p:grpSpPr>
          <p:sp>
            <p:nvSpPr>
              <p:cNvPr id="8" name="圆角矩形 5"/>
              <p:cNvSpPr/>
              <p:nvPr/>
            </p:nvSpPr>
            <p:spPr>
              <a:xfrm>
                <a:off x="468413" y="3730804"/>
                <a:ext cx="1495441" cy="599577"/>
              </a:xfrm>
              <a:prstGeom prst="rect">
                <a:avLst/>
              </a:prstGeom>
              <a:solidFill>
                <a:srgbClr val="D9AFA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r>
                  <a:rPr kumimoji="0" lang="zh-CN" alt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cs typeface="+mn-ea"/>
                    <a:sym typeface="+mn-lt"/>
                  </a:rPr>
                  <a:t>负责工作</a:t>
                </a: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2316331" y="3052607"/>
                <a:ext cx="6694206" cy="22644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使用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Fundus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预训练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ViT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编码器提取多层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patch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特征，在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DR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任务中训练分类头，在眼底血管分割任务中接入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UNETR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解码器，并使用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Accuracy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F1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AUC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Dice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和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IoU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进行评估；针对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IDRiD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微动脉瘤检测，我复现了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MSRNet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的灰度化、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CLAHE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、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Gamma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校正和 </a:t>
                </a:r>
                <a:r>
                  <a:rPr lang="en-US" altLang="zh-CN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96×96 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重叠滑窗推理流程，通过概率图重建、阈值化和连通域分析得到病灶结果，最后将这些模型接入 </a:t>
                </a:r>
                <a:r>
                  <a:rPr lang="en-US" altLang="zh-CN" sz="1600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FastAPI</a:t>
                </a:r>
                <a:r>
                  <a:rPr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cs typeface="+mn-ea"/>
                    <a:sym typeface="+mn-lt"/>
                  </a:rPr>
                  <a:t>，并结合通义千问生成辅助分析报告。</a:t>
                </a:r>
              </a:p>
            </p:txBody>
          </p:sp>
        </p:grpSp>
        <p:cxnSp>
          <p:nvCxnSpPr>
            <p:cNvPr id="7" name="直接连接符 6"/>
            <p:cNvCxnSpPr>
              <a:cxnSpLocks/>
            </p:cNvCxnSpPr>
            <p:nvPr/>
          </p:nvCxnSpPr>
          <p:spPr>
            <a:xfrm>
              <a:off x="753075" y="3738708"/>
              <a:ext cx="8115353" cy="0"/>
            </a:xfrm>
            <a:prstGeom prst="line">
              <a:avLst/>
            </a:prstGeom>
            <a:ln>
              <a:solidFill>
                <a:srgbClr val="50638A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文本框 15"/>
          <p:cNvSpPr txBox="1"/>
          <p:nvPr/>
        </p:nvSpPr>
        <p:spPr>
          <a:xfrm>
            <a:off x="507716" y="477100"/>
            <a:ext cx="1415772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zh-CN" altLang="en-US" sz="2400" b="1" dirty="0">
                <a:solidFill>
                  <a:srgbClr val="50638A"/>
                </a:solidFill>
                <a:cs typeface="+mn-ea"/>
                <a:sym typeface="+mn-lt"/>
              </a:rPr>
              <a:t>项目经历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D80BB0D-CE18-5F46-5DD0-027AB55C862C}"/>
              </a:ext>
            </a:extLst>
          </p:cNvPr>
          <p:cNvGrpSpPr/>
          <p:nvPr/>
        </p:nvGrpSpPr>
        <p:grpSpPr>
          <a:xfrm>
            <a:off x="9401199" y="1382177"/>
            <a:ext cx="2492043" cy="4986499"/>
            <a:chOff x="8654178" y="1382178"/>
            <a:chExt cx="2492043" cy="4986499"/>
          </a:xfrm>
        </p:grpSpPr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816D011E-D0E1-0CF6-986B-8ACCB6B30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654178" y="1382178"/>
              <a:ext cx="2475651" cy="245962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253F4BDA-71F3-59C9-D23B-9F6EF832C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654178" y="3909050"/>
              <a:ext cx="2492043" cy="2459627"/>
            </a:xfrm>
            <a:prstGeom prst="rect">
              <a:avLst/>
            </a:prstGeom>
          </p:spPr>
        </p:pic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91886E95-39C6-0690-E645-8511B380E056}"/>
              </a:ext>
            </a:extLst>
          </p:cNvPr>
          <p:cNvSpPr txBox="1"/>
          <p:nvPr/>
        </p:nvSpPr>
        <p:spPr>
          <a:xfrm>
            <a:off x="458513" y="1151345"/>
            <a:ext cx="868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kern="100" dirty="0">
                <a:solidFill>
                  <a:srgbClr val="414141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大创：基于深度学习的慢性眼底病变智能诊断系统研究</a:t>
            </a:r>
            <a:endParaRPr lang="zh-CN" altLang="en-US" sz="4000" dirty="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C9563-6640-E0D8-727E-B5807F70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B0ABE839-AD8D-F2DB-B230-F7456B393B6F}"/>
              </a:ext>
            </a:extLst>
          </p:cNvPr>
          <p:cNvGrpSpPr/>
          <p:nvPr/>
        </p:nvGrpSpPr>
        <p:grpSpPr>
          <a:xfrm>
            <a:off x="458513" y="1613010"/>
            <a:ext cx="10792321" cy="1621236"/>
            <a:chOff x="468413" y="3534848"/>
            <a:chExt cx="8093231" cy="1895071"/>
          </a:xfrm>
        </p:grpSpPr>
        <p:sp>
          <p:nvSpPr>
            <p:cNvPr id="12" name="圆角矩形 5">
              <a:extLst>
                <a:ext uri="{FF2B5EF4-FFF2-40B4-BE49-F238E27FC236}">
                  <a16:creationId xmlns:a16="http://schemas.microsoft.com/office/drawing/2014/main" id="{7F72CBE2-546A-410F-D93D-CFE2E9028519}"/>
                </a:ext>
              </a:extLst>
            </p:cNvPr>
            <p:cNvSpPr/>
            <p:nvPr/>
          </p:nvSpPr>
          <p:spPr>
            <a:xfrm>
              <a:off x="468413" y="3989755"/>
              <a:ext cx="1216749" cy="599577"/>
            </a:xfrm>
            <a:prstGeom prst="rect">
              <a:avLst/>
            </a:prstGeom>
            <a:solidFill>
              <a:srgbClr val="50638A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项目概述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F1F6343-2099-7EA8-E061-15E9DBC1B7F6}"/>
                </a:ext>
              </a:extLst>
            </p:cNvPr>
            <p:cNvSpPr/>
            <p:nvPr/>
          </p:nvSpPr>
          <p:spPr>
            <a:xfrm>
              <a:off x="1969393" y="3534848"/>
              <a:ext cx="6592251" cy="189507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针对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Dancing with the Stars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中“裁判评分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+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粉丝投票”的混合淘汰机制，将不可观测的粉丝偏好建模为隐变量，利用历史评分、淘汰结果和赛制规则反演每周投票份额与人气排序；进一步通过反事实回放比较百分比制、排名制和评委救援机制，并提出随比赛进程动态调整裁判权重的方案。论文获美国大学生数学建模竞赛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H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奖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D01889B5-A3A5-31AF-387C-FE5A7E316F77}"/>
              </a:ext>
            </a:extLst>
          </p:cNvPr>
          <p:cNvGrpSpPr/>
          <p:nvPr/>
        </p:nvGrpSpPr>
        <p:grpSpPr>
          <a:xfrm>
            <a:off x="239724" y="3313386"/>
            <a:ext cx="5215144" cy="3413235"/>
            <a:chOff x="561825" y="3027621"/>
            <a:chExt cx="8427258" cy="2264402"/>
          </a:xfrm>
        </p:grpSpPr>
        <p:sp>
          <p:nvSpPr>
            <p:cNvPr id="8" name="圆角矩形 5">
              <a:extLst>
                <a:ext uri="{FF2B5EF4-FFF2-40B4-BE49-F238E27FC236}">
                  <a16:creationId xmlns:a16="http://schemas.microsoft.com/office/drawing/2014/main" id="{7F03EB0C-4D21-8BEC-4C66-A752BA1653EC}"/>
                </a:ext>
              </a:extLst>
            </p:cNvPr>
            <p:cNvSpPr/>
            <p:nvPr/>
          </p:nvSpPr>
          <p:spPr>
            <a:xfrm>
              <a:off x="561825" y="3787700"/>
              <a:ext cx="1495441" cy="599577"/>
            </a:xfrm>
            <a:prstGeom prst="rect">
              <a:avLst/>
            </a:prstGeom>
            <a:solidFill>
              <a:srgbClr val="D9AFA6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cs typeface="+mn-ea"/>
                  <a:sym typeface="+mn-lt"/>
                </a:rPr>
                <a:t>负责工作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C51D04E-CA73-1AF1-8762-F1CC66D37FAE}"/>
                </a:ext>
              </a:extLst>
            </p:cNvPr>
            <p:cNvSpPr/>
            <p:nvPr/>
          </p:nvSpPr>
          <p:spPr>
            <a:xfrm>
              <a:off x="2224530" y="3027621"/>
              <a:ext cx="6764553" cy="22644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使用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Python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构建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335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个赛季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-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周面板；采用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Dirichlet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先验、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MCMC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与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Plackett-Luce/Bradley-Terry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模型反演粉丝偏好，并通过后验预测、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R-hat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和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ESS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评估模型稳定性；以每周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2000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次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Monte Carlo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回放比较不同淘汰规则，结合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Ridge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回归和 </a:t>
              </a:r>
              <a:r>
                <a:rPr lang="en-GB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Bootstrap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分析选手特征。历史回放中，百分比制和排名制的淘汰集合命中率分别为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96.26%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和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75.00%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。使用 </a:t>
              </a:r>
              <a:r>
                <a:rPr lang="en-US" altLang="zh-CN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latex </a:t>
              </a:r>
              <a:r>
                <a:rPr lang="zh-CN" alt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完成最终论文的撰写。</a:t>
              </a:r>
            </a:p>
          </p:txBody>
        </p:sp>
      </p:grp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D320AF2-5ECD-7AF8-DA27-FF6F18A626CA}"/>
              </a:ext>
            </a:extLst>
          </p:cNvPr>
          <p:cNvCxnSpPr>
            <a:cxnSpLocks/>
          </p:cNvCxnSpPr>
          <p:nvPr/>
        </p:nvCxnSpPr>
        <p:spPr>
          <a:xfrm>
            <a:off x="328572" y="3234246"/>
            <a:ext cx="11364187" cy="55491"/>
          </a:xfrm>
          <a:prstGeom prst="line">
            <a:avLst/>
          </a:prstGeom>
          <a:ln>
            <a:solidFill>
              <a:srgbClr val="50638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8E75298-F36E-142B-4759-BCA729EE9FA5}"/>
              </a:ext>
            </a:extLst>
          </p:cNvPr>
          <p:cNvSpPr txBox="1"/>
          <p:nvPr/>
        </p:nvSpPr>
        <p:spPr>
          <a:xfrm>
            <a:off x="507716" y="477100"/>
            <a:ext cx="1415772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zh-CN" altLang="en-US" sz="2400" b="1" dirty="0">
                <a:solidFill>
                  <a:srgbClr val="50638A"/>
                </a:solidFill>
                <a:cs typeface="+mn-ea"/>
                <a:sym typeface="+mn-lt"/>
              </a:rPr>
              <a:t>项目经历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A8882E-155C-7836-A96A-8C050C5BCE1F}"/>
              </a:ext>
            </a:extLst>
          </p:cNvPr>
          <p:cNvSpPr txBox="1"/>
          <p:nvPr/>
        </p:nvSpPr>
        <p:spPr>
          <a:xfrm>
            <a:off x="458513" y="1151345"/>
            <a:ext cx="8680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100" dirty="0">
                <a:solidFill>
                  <a:srgbClr val="41414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美赛</a:t>
            </a:r>
            <a:r>
              <a:rPr lang="zh-CN" altLang="zh-CN" sz="2400" b="1" kern="100" dirty="0">
                <a:solidFill>
                  <a:srgbClr val="414141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2400" b="1" kern="100" dirty="0">
                <a:solidFill>
                  <a:srgbClr val="414141"/>
                </a:solidFill>
                <a:effectLst/>
                <a:ea typeface="微软雅黑" panose="020B0503020204020204" pitchFamily="34" charset="-122"/>
                <a:cs typeface="Times New Roman" panose="02020603050405020304" pitchFamily="18" charset="0"/>
              </a:rPr>
              <a:t>基于贝叶斯推断与反事实模拟的综艺节目投票机制研究</a:t>
            </a:r>
            <a:endParaRPr lang="zh-CN" altLang="en-US" sz="4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C8BA1D7-83A4-4927-DFA6-F3258F0B19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510" y="3568264"/>
            <a:ext cx="6665573" cy="297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3733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tUpDiag">
          <a:fgClr>
            <a:srgbClr val="FCFAFA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1983105" y="1698112"/>
            <a:ext cx="8225790" cy="3461776"/>
            <a:chOff x="1983105" y="1970255"/>
            <a:chExt cx="8225790" cy="3461776"/>
          </a:xfrm>
        </p:grpSpPr>
        <p:sp>
          <p:nvSpPr>
            <p:cNvPr id="18" name="矩形 17"/>
            <p:cNvSpPr/>
            <p:nvPr/>
          </p:nvSpPr>
          <p:spPr>
            <a:xfrm>
              <a:off x="2838162" y="3140961"/>
              <a:ext cx="6211245" cy="461665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i="1" spc="300" dirty="0">
                  <a:solidFill>
                    <a:srgbClr val="50638A"/>
                  </a:solidFill>
                  <a:cs typeface="+mn-ea"/>
                  <a:sym typeface="+mn-lt"/>
                </a:rPr>
                <a:t>Thank You For The Guidance</a:t>
              </a:r>
              <a:endParaRPr lang="zh-CN" altLang="en-US" sz="2400" i="1" spc="300" dirty="0">
                <a:solidFill>
                  <a:srgbClr val="50638A"/>
                </a:solidFill>
                <a:cs typeface="+mn-ea"/>
                <a:sym typeface="+mn-lt"/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983105" y="1970255"/>
              <a:ext cx="8225790" cy="1014730"/>
            </a:xfrm>
            <a:prstGeom prst="rect">
              <a:avLst/>
            </a:prstGeom>
            <a:effectLst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6000" dirty="0">
                  <a:solidFill>
                    <a:srgbClr val="50638A"/>
                  </a:solidFill>
                  <a:latin typeface="思源宋体 CN Heavy" panose="02020900000000000000" pitchFamily="18" charset="-122"/>
                  <a:ea typeface="思源宋体 CN Heavy" panose="02020900000000000000" pitchFamily="18" charset="-122"/>
                  <a:cs typeface="+mn-ea"/>
                  <a:sym typeface="+mn-lt"/>
                </a:rPr>
                <a:t>感谢各位老师指导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2838162" y="3813934"/>
              <a:ext cx="6515676" cy="0"/>
            </a:xfrm>
            <a:prstGeom prst="line">
              <a:avLst/>
            </a:prstGeom>
            <a:ln>
              <a:solidFill>
                <a:srgbClr val="50638A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矩形: 圆角 22"/>
            <p:cNvSpPr/>
            <p:nvPr/>
          </p:nvSpPr>
          <p:spPr>
            <a:xfrm>
              <a:off x="4871545" y="5015383"/>
              <a:ext cx="2480442" cy="416648"/>
            </a:xfrm>
            <a:prstGeom prst="roundRect">
              <a:avLst>
                <a:gd name="adj" fmla="val 50000"/>
              </a:avLst>
            </a:prstGeom>
            <a:solidFill>
              <a:srgbClr val="D9AFA6"/>
            </a:solidFill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rgbClr val="3B4660"/>
                </a:solidFill>
                <a:cs typeface="+mn-ea"/>
                <a:sym typeface="+mn-lt"/>
              </a:endParaRPr>
            </a:p>
          </p:txBody>
        </p:sp>
        <p:sp>
          <p:nvSpPr>
            <p:cNvPr id="22" name="文本框 21"/>
            <p:cNvSpPr txBox="1"/>
            <p:nvPr/>
          </p:nvSpPr>
          <p:spPr>
            <a:xfrm>
              <a:off x="2166257" y="4056786"/>
              <a:ext cx="78594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Lorem ipsum dolor sit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amet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,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consectetuer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adipiscing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elit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Maecenas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porttitor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congue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massa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.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Fusce</a:t>
              </a:r>
              <a:r>
                <a:rPr lang="en-US" altLang="zh-CN" sz="1200" spc="3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spc="3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posuere</a:t>
              </a:r>
              <a:endParaRPr lang="zh-CN" altLang="en-US" sz="1200" spc="300" dirty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D8474E18-AB8A-4CB1-5EB2-C1E8E06A9831}"/>
              </a:ext>
            </a:extLst>
          </p:cNvPr>
          <p:cNvSpPr/>
          <p:nvPr/>
        </p:nvSpPr>
        <p:spPr>
          <a:xfrm>
            <a:off x="4129827" y="4782287"/>
            <a:ext cx="392183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cs typeface="+mn-ea"/>
                <a:sym typeface="+mn-lt"/>
              </a:rPr>
              <a:t>汇报人 ：雷显秋    </a:t>
            </a:r>
            <a:r>
              <a:rPr lang="en-US" altLang="zh-CN" sz="16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  <p:tag name="COMMONDATA" val="eyJoZGlkIjoiODAxMTM5MzFhOWUwODJiZjcwZWJkMjJmM2RlYzNhN2QifQ=="/>
  <p:tag name="KSO_WPP_MARK_KEY" val="b43470bb-6507-49cb-bf62-e336e5c1d8a3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0b3uwvnf">
      <a:majorFont>
        <a:latin typeface="Segoe UI"/>
        <a:ea typeface="微软雅黑"/>
        <a:cs typeface="Arial"/>
      </a:majorFont>
      <a:minorFont>
        <a:latin typeface="Segoe UI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1566</TotalTime>
  <Words>1259</Words>
  <Application>Microsoft Office PowerPoint</Application>
  <PresentationFormat>宽屏</PresentationFormat>
  <Paragraphs>76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微软雅黑</vt:lpstr>
      <vt:lpstr>思源宋体 CN Heavy</vt:lpstr>
      <vt:lpstr>Arial</vt:lpstr>
      <vt:lpstr>Calibri</vt:lpstr>
      <vt:lpstr>Segoe UI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毕业论文</dc:title>
  <dc:creator>第一PPT，www.1ppt.com</dc:creator>
  <cp:keywords>www.1ppt.com</cp:keywords>
  <dc:description>www.1ppt.com</dc:description>
  <cp:lastModifiedBy>显秋 雷</cp:lastModifiedBy>
  <cp:revision>27</cp:revision>
  <dcterms:created xsi:type="dcterms:W3CDTF">2024-03-05T06:35:00Z</dcterms:created>
  <dcterms:modified xsi:type="dcterms:W3CDTF">2026-09-14T12:50:59Z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66F7F177BEB14C3F9C4E6560131E0597_12</vt:lpwstr>
  </property>
  <property fmtid="{D5CDD505-2E9C-101B-9397-08002B2CF9AE}" pid="3" name="KSOProductBuildVer">
    <vt:lpwstr>2052-12.1.0.26375</vt:lpwstr>
  </property>
</Properties>
</file>